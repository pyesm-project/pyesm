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1815" r:id="rId3"/>
    <p:sldId id="259" r:id="rId4"/>
    <p:sldId id="1814" r:id="rId5"/>
  </p:sldIdLst>
  <p:sldSz cx="14400213" cy="21599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80" autoAdjust="0"/>
    <p:restoredTop sz="94660"/>
  </p:normalViewPr>
  <p:slideViewPr>
    <p:cSldViewPr snapToGrid="0">
      <p:cViewPr varScale="1">
        <p:scale>
          <a:sx n="46" d="100"/>
          <a:sy n="46" d="100"/>
        </p:scale>
        <p:origin x="456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3534924"/>
            <a:ext cx="12240181" cy="7519835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11344752"/>
            <a:ext cx="10800160" cy="5214884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93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89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5384888"/>
            <a:ext cx="12420184" cy="89848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14454688"/>
            <a:ext cx="12420184" cy="4724895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414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5749874"/>
            <a:ext cx="6120091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5749874"/>
            <a:ext cx="6120091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163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1149979"/>
            <a:ext cx="12420184" cy="41749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5294885"/>
            <a:ext cx="6091964" cy="259494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7889827"/>
            <a:ext cx="6091964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5294885"/>
            <a:ext cx="6121966" cy="259494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7889827"/>
            <a:ext cx="6121966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49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46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50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1439968"/>
            <a:ext cx="4644444" cy="5039889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3109937"/>
            <a:ext cx="7290108" cy="1534966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6479857"/>
            <a:ext cx="4644444" cy="12004738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24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1439968"/>
            <a:ext cx="4644444" cy="5039889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3109937"/>
            <a:ext cx="7290108" cy="1534966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6479857"/>
            <a:ext cx="4644444" cy="12004738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12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84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1149975"/>
            <a:ext cx="3105046" cy="1830459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1149975"/>
            <a:ext cx="9135135" cy="18304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30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F8C06533-D1E3-4DC7-B089-73214B102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822" y="510003"/>
            <a:ext cx="13887477" cy="10899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3432F0C-18AF-4D0B-A854-38CA1B6120D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261822" y="2181783"/>
            <a:ext cx="13887477" cy="1784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algn="l" defTabSz="107999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35" b="1" kern="1200" dirty="0" smtClean="0">
                <a:solidFill>
                  <a:srgbClr val="728FA5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9066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1149979"/>
            <a:ext cx="12420184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5749874"/>
            <a:ext cx="12420184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20019564"/>
            <a:ext cx="3240048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BA104D-BBF9-4279-8CEB-A5CF88D2DFA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20019564"/>
            <a:ext cx="486007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20019564"/>
            <a:ext cx="3240048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7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thenounproject.com/icon/database-7236569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thenounproject.com/icon/math-8011952/" TargetMode="External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19">
            <a:extLst>
              <a:ext uri="{FF2B5EF4-FFF2-40B4-BE49-F238E27FC236}">
                <a16:creationId xmlns:a16="http://schemas.microsoft.com/office/drawing/2014/main" id="{40E92EB0-E01D-C898-97A2-37E639B128DB}"/>
              </a:ext>
            </a:extLst>
          </p:cNvPr>
          <p:cNvSpPr/>
          <p:nvPr/>
        </p:nvSpPr>
        <p:spPr>
          <a:xfrm>
            <a:off x="6105428" y="1563230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1. Conceptual model definition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E8DE0907-9A18-6272-9AC4-1D0C1B13AC82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6843813" y="1930457"/>
            <a:ext cx="0" cy="23247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tangolo 19">
            <a:extLst>
              <a:ext uri="{FF2B5EF4-FFF2-40B4-BE49-F238E27FC236}">
                <a16:creationId xmlns:a16="http://schemas.microsoft.com/office/drawing/2014/main" id="{7ACC15AE-C89D-0FBE-C21A-37883CD597E4}"/>
              </a:ext>
            </a:extLst>
          </p:cNvPr>
          <p:cNvSpPr/>
          <p:nvPr/>
        </p:nvSpPr>
        <p:spPr>
          <a:xfrm>
            <a:off x="6105428" y="2162932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2. Generation of model directory</a:t>
            </a:r>
          </a:p>
        </p:txBody>
      </p:sp>
      <p:sp>
        <p:nvSpPr>
          <p:cNvPr id="8" name="Rettangolo 19">
            <a:extLst>
              <a:ext uri="{FF2B5EF4-FFF2-40B4-BE49-F238E27FC236}">
                <a16:creationId xmlns:a16="http://schemas.microsoft.com/office/drawing/2014/main" id="{3C70D2F7-3804-AB7C-3396-6921952F8CD8}"/>
              </a:ext>
            </a:extLst>
          </p:cNvPr>
          <p:cNvSpPr/>
          <p:nvPr/>
        </p:nvSpPr>
        <p:spPr>
          <a:xfrm>
            <a:off x="6105425" y="2780035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3. Fill model setup file/s</a:t>
            </a:r>
          </a:p>
        </p:txBody>
      </p:sp>
      <p:sp>
        <p:nvSpPr>
          <p:cNvPr id="9" name="Rettangolo 19">
            <a:extLst>
              <a:ext uri="{FF2B5EF4-FFF2-40B4-BE49-F238E27FC236}">
                <a16:creationId xmlns:a16="http://schemas.microsoft.com/office/drawing/2014/main" id="{E15C85C0-2898-F51E-F4D0-0931A0C62980}"/>
              </a:ext>
            </a:extLst>
          </p:cNvPr>
          <p:cNvSpPr/>
          <p:nvPr/>
        </p:nvSpPr>
        <p:spPr>
          <a:xfrm>
            <a:off x="6105426" y="3641821"/>
            <a:ext cx="3829351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4. Generation of model class instance</a:t>
            </a:r>
          </a:p>
        </p:txBody>
      </p:sp>
      <p:sp>
        <p:nvSpPr>
          <p:cNvPr id="10" name="Rettangolo 19">
            <a:extLst>
              <a:ext uri="{FF2B5EF4-FFF2-40B4-BE49-F238E27FC236}">
                <a16:creationId xmlns:a16="http://schemas.microsoft.com/office/drawing/2014/main" id="{E9479779-D0AB-4A41-AAD5-4377A7F22073}"/>
              </a:ext>
            </a:extLst>
          </p:cNvPr>
          <p:cNvSpPr/>
          <p:nvPr/>
        </p:nvSpPr>
        <p:spPr>
          <a:xfrm>
            <a:off x="6105426" y="4577658"/>
            <a:ext cx="2007332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5. Fill sets data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(model coordinates)</a:t>
            </a:r>
          </a:p>
        </p:txBody>
      </p:sp>
      <p:sp>
        <p:nvSpPr>
          <p:cNvPr id="11" name="Rettangolo 19">
            <a:extLst>
              <a:ext uri="{FF2B5EF4-FFF2-40B4-BE49-F238E27FC236}">
                <a16:creationId xmlns:a16="http://schemas.microsoft.com/office/drawing/2014/main" id="{75130FBB-1087-6EDA-36D0-E1011B856646}"/>
              </a:ext>
            </a:extLst>
          </p:cNvPr>
          <p:cNvSpPr/>
          <p:nvPr/>
        </p:nvSpPr>
        <p:spPr>
          <a:xfrm>
            <a:off x="6105425" y="5186953"/>
            <a:ext cx="2007332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6. Initialization of data structures</a:t>
            </a:r>
          </a:p>
        </p:txBody>
      </p:sp>
      <p:sp>
        <p:nvSpPr>
          <p:cNvPr id="13" name="Rettangolo 19">
            <a:extLst>
              <a:ext uri="{FF2B5EF4-FFF2-40B4-BE49-F238E27FC236}">
                <a16:creationId xmlns:a16="http://schemas.microsoft.com/office/drawing/2014/main" id="{8304904E-8984-2C24-6523-5903E4F256A1}"/>
              </a:ext>
            </a:extLst>
          </p:cNvPr>
          <p:cNvSpPr/>
          <p:nvPr/>
        </p:nvSpPr>
        <p:spPr>
          <a:xfrm>
            <a:off x="6105421" y="6404259"/>
            <a:ext cx="315710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8. Initialization of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numerical problem/s</a:t>
            </a:r>
          </a:p>
        </p:txBody>
      </p:sp>
      <p:sp>
        <p:nvSpPr>
          <p:cNvPr id="14" name="Rettangolo 19">
            <a:extLst>
              <a:ext uri="{FF2B5EF4-FFF2-40B4-BE49-F238E27FC236}">
                <a16:creationId xmlns:a16="http://schemas.microsoft.com/office/drawing/2014/main" id="{19561315-8EB0-1048-4033-DBD844300CF9}"/>
              </a:ext>
            </a:extLst>
          </p:cNvPr>
          <p:cNvSpPr/>
          <p:nvPr/>
        </p:nvSpPr>
        <p:spPr>
          <a:xfrm>
            <a:off x="6105423" y="5795606"/>
            <a:ext cx="315710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7. Fill/update exogenous model data</a:t>
            </a:r>
          </a:p>
        </p:txBody>
      </p:sp>
      <p:sp>
        <p:nvSpPr>
          <p:cNvPr id="15" name="Rettangolo 19">
            <a:extLst>
              <a:ext uri="{FF2B5EF4-FFF2-40B4-BE49-F238E27FC236}">
                <a16:creationId xmlns:a16="http://schemas.microsoft.com/office/drawing/2014/main" id="{0E740B30-C1B5-D68E-7F1E-C9DC7F086F93}"/>
              </a:ext>
            </a:extLst>
          </p:cNvPr>
          <p:cNvSpPr/>
          <p:nvPr/>
        </p:nvSpPr>
        <p:spPr>
          <a:xfrm>
            <a:off x="6105421" y="7236425"/>
            <a:ext cx="382934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9. Solution of numerical problem/s</a:t>
            </a:r>
          </a:p>
        </p:txBody>
      </p:sp>
      <p:sp>
        <p:nvSpPr>
          <p:cNvPr id="16" name="Rettangolo 19">
            <a:extLst>
              <a:ext uri="{FF2B5EF4-FFF2-40B4-BE49-F238E27FC236}">
                <a16:creationId xmlns:a16="http://schemas.microsoft.com/office/drawing/2014/main" id="{BC271BDD-1E00-A02B-7366-7DB85E187A83}"/>
              </a:ext>
            </a:extLst>
          </p:cNvPr>
          <p:cNvSpPr/>
          <p:nvPr/>
        </p:nvSpPr>
        <p:spPr>
          <a:xfrm>
            <a:off x="6105422" y="7845720"/>
            <a:ext cx="3829348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10. Export endogenous model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39F9E7-704E-D310-1EDC-9494441780DA}"/>
              </a:ext>
            </a:extLst>
          </p:cNvPr>
          <p:cNvSpPr txBox="1"/>
          <p:nvPr/>
        </p:nvSpPr>
        <p:spPr>
          <a:xfrm>
            <a:off x="1185295" y="1403051"/>
            <a:ext cx="1882292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99" b="1" noProof="1">
                <a:latin typeface="+mj-lt"/>
                <a:ea typeface="Fira Code" pitchFamily="1" charset="0"/>
                <a:cs typeface="Fira Code" pitchFamily="1" charset="0"/>
              </a:rPr>
              <a:t>Preliminary activities</a:t>
            </a:r>
            <a:endParaRPr lang="en-US" sz="1299" b="1" dirty="0"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76C3B3-7A00-1884-BE4E-E4158ACE6182}"/>
              </a:ext>
            </a:extLst>
          </p:cNvPr>
          <p:cNvSpPr txBox="1"/>
          <p:nvPr/>
        </p:nvSpPr>
        <p:spPr>
          <a:xfrm>
            <a:off x="1185295" y="3467660"/>
            <a:ext cx="2794262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99" b="1" noProof="1">
                <a:latin typeface="+mj-lt"/>
                <a:ea typeface="Fira Code" pitchFamily="1" charset="0"/>
                <a:cs typeface="Fira Code" pitchFamily="1" charset="0"/>
              </a:rPr>
              <a:t>CVXlab model generation</a:t>
            </a:r>
            <a:endParaRPr lang="en-US" sz="1299" b="1" dirty="0"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056BD5-C5B6-6F85-BEDA-5F3632BAAD87}"/>
              </a:ext>
            </a:extLst>
          </p:cNvPr>
          <p:cNvSpPr txBox="1"/>
          <p:nvPr/>
        </p:nvSpPr>
        <p:spPr>
          <a:xfrm>
            <a:off x="1185295" y="7089293"/>
            <a:ext cx="2794262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99" b="1" noProof="1">
                <a:latin typeface="+mj-lt"/>
                <a:ea typeface="Fira Code" pitchFamily="1" charset="0"/>
                <a:cs typeface="Fira Code" pitchFamily="1" charset="0"/>
              </a:rPr>
              <a:t>Model solution and results export</a:t>
            </a:r>
            <a:endParaRPr lang="en-US" sz="1299" b="1" dirty="0">
              <a:latin typeface="+mj-lt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F42582-5E4D-31B0-1584-589904375C97}"/>
              </a:ext>
            </a:extLst>
          </p:cNvPr>
          <p:cNvSpPr txBox="1"/>
          <p:nvPr/>
        </p:nvSpPr>
        <p:spPr>
          <a:xfrm>
            <a:off x="6173468" y="787751"/>
            <a:ext cx="1340686" cy="43088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100" i="1" noProof="1">
                <a:latin typeface="+mj-lt"/>
                <a:ea typeface="Fira Code" pitchFamily="1" charset="0"/>
                <a:cs typeface="Fira Code" pitchFamily="1" charset="0"/>
              </a:rPr>
              <a:t>Model generation from scratch</a:t>
            </a:r>
            <a:endParaRPr lang="en-US" sz="1100" i="1" dirty="0"/>
          </a:p>
        </p:txBody>
      </p:sp>
      <p:sp>
        <p:nvSpPr>
          <p:cNvPr id="32" name="Rettangolo 19">
            <a:extLst>
              <a:ext uri="{FF2B5EF4-FFF2-40B4-BE49-F238E27FC236}">
                <a16:creationId xmlns:a16="http://schemas.microsoft.com/office/drawing/2014/main" id="{F8C94B93-A71A-EC93-B3BE-DC3F5EBE173E}"/>
              </a:ext>
            </a:extLst>
          </p:cNvPr>
          <p:cNvSpPr/>
          <p:nvPr/>
        </p:nvSpPr>
        <p:spPr>
          <a:xfrm>
            <a:off x="3913234" y="2162928"/>
            <a:ext cx="1910853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cvxlab.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create_model_dir()</a:t>
            </a:r>
          </a:p>
        </p:txBody>
      </p:sp>
      <p:cxnSp>
        <p:nvCxnSpPr>
          <p:cNvPr id="33" name="Connettore diritto 4">
            <a:extLst>
              <a:ext uri="{FF2B5EF4-FFF2-40B4-BE49-F238E27FC236}">
                <a16:creationId xmlns:a16="http://schemas.microsoft.com/office/drawing/2014/main" id="{CA278E7E-A4FF-2102-BED1-77F065D75F3C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6843813" y="2530161"/>
            <a:ext cx="3" cy="24987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ttore diritto 4">
            <a:extLst>
              <a:ext uri="{FF2B5EF4-FFF2-40B4-BE49-F238E27FC236}">
                <a16:creationId xmlns:a16="http://schemas.microsoft.com/office/drawing/2014/main" id="{2BF68274-335F-A8F3-75F8-ABC40BE22829}"/>
              </a:ext>
            </a:extLst>
          </p:cNvPr>
          <p:cNvCxnSpPr>
            <a:cxnSpLocks/>
          </p:cNvCxnSpPr>
          <p:nvPr/>
        </p:nvCxnSpPr>
        <p:spPr>
          <a:xfrm>
            <a:off x="1185295" y="3385647"/>
            <a:ext cx="11362305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diritto 4">
            <a:extLst>
              <a:ext uri="{FF2B5EF4-FFF2-40B4-BE49-F238E27FC236}">
                <a16:creationId xmlns:a16="http://schemas.microsoft.com/office/drawing/2014/main" id="{05FA5B67-2124-3529-4CE2-173E7ADB4475}"/>
              </a:ext>
            </a:extLst>
          </p:cNvPr>
          <p:cNvCxnSpPr>
            <a:cxnSpLocks/>
          </p:cNvCxnSpPr>
          <p:nvPr/>
        </p:nvCxnSpPr>
        <p:spPr>
          <a:xfrm>
            <a:off x="1185295" y="1349640"/>
            <a:ext cx="11362305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diritto 4">
            <a:extLst>
              <a:ext uri="{FF2B5EF4-FFF2-40B4-BE49-F238E27FC236}">
                <a16:creationId xmlns:a16="http://schemas.microsoft.com/office/drawing/2014/main" id="{8409A91C-409C-803F-F588-9E66D492CBD6}"/>
              </a:ext>
            </a:extLst>
          </p:cNvPr>
          <p:cNvCxnSpPr>
            <a:cxnSpLocks/>
          </p:cNvCxnSpPr>
          <p:nvPr/>
        </p:nvCxnSpPr>
        <p:spPr>
          <a:xfrm>
            <a:off x="1185295" y="7007281"/>
            <a:ext cx="11362305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diritto 4">
            <a:extLst>
              <a:ext uri="{FF2B5EF4-FFF2-40B4-BE49-F238E27FC236}">
                <a16:creationId xmlns:a16="http://schemas.microsoft.com/office/drawing/2014/main" id="{B3F10FD0-257C-8871-E185-17F30DDE61F9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6843811" y="1218638"/>
            <a:ext cx="2" cy="3356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ttore diritto 4">
            <a:extLst>
              <a:ext uri="{FF2B5EF4-FFF2-40B4-BE49-F238E27FC236}">
                <a16:creationId xmlns:a16="http://schemas.microsoft.com/office/drawing/2014/main" id="{07E9CB37-267D-92A6-3D47-C320ADF7B1E6}"/>
              </a:ext>
            </a:extLst>
          </p:cNvPr>
          <p:cNvCxnSpPr>
            <a:cxnSpLocks/>
          </p:cNvCxnSpPr>
          <p:nvPr/>
        </p:nvCxnSpPr>
        <p:spPr>
          <a:xfrm>
            <a:off x="6843813" y="5554182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ttore diritto 4">
            <a:extLst>
              <a:ext uri="{FF2B5EF4-FFF2-40B4-BE49-F238E27FC236}">
                <a16:creationId xmlns:a16="http://schemas.microsoft.com/office/drawing/2014/main" id="{14D332A2-8723-447D-4512-5CEDA3FBC8E1}"/>
              </a:ext>
            </a:extLst>
          </p:cNvPr>
          <p:cNvCxnSpPr>
            <a:cxnSpLocks/>
          </p:cNvCxnSpPr>
          <p:nvPr/>
        </p:nvCxnSpPr>
        <p:spPr>
          <a:xfrm>
            <a:off x="6843811" y="6162835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ttore diritto 4">
            <a:extLst>
              <a:ext uri="{FF2B5EF4-FFF2-40B4-BE49-F238E27FC236}">
                <a16:creationId xmlns:a16="http://schemas.microsoft.com/office/drawing/2014/main" id="{ECA1F66D-423F-D813-7A90-0F37C9F96373}"/>
              </a:ext>
            </a:extLst>
          </p:cNvPr>
          <p:cNvCxnSpPr>
            <a:cxnSpLocks/>
          </p:cNvCxnSpPr>
          <p:nvPr/>
        </p:nvCxnSpPr>
        <p:spPr>
          <a:xfrm>
            <a:off x="6827261" y="6771487"/>
            <a:ext cx="0" cy="46493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75BD57C-42A0-FE41-A673-2DF5956A42E2}"/>
              </a:ext>
            </a:extLst>
          </p:cNvPr>
          <p:cNvSpPr txBox="1"/>
          <p:nvPr/>
        </p:nvSpPr>
        <p:spPr>
          <a:xfrm>
            <a:off x="8005651" y="787751"/>
            <a:ext cx="1929132" cy="43088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100" i="1" noProof="1">
                <a:latin typeface="+mj-lt"/>
                <a:ea typeface="Fira Code" pitchFamily="1" charset="0"/>
                <a:cs typeface="Fira Code" pitchFamily="1" charset="0"/>
              </a:rPr>
              <a:t>Model generation from existing settings/data structures</a:t>
            </a:r>
            <a:endParaRPr lang="en-US" sz="1100" i="1" dirty="0"/>
          </a:p>
        </p:txBody>
      </p:sp>
      <p:cxnSp>
        <p:nvCxnSpPr>
          <p:cNvPr id="84" name="Connettore diritto 4">
            <a:extLst>
              <a:ext uri="{FF2B5EF4-FFF2-40B4-BE49-F238E27FC236}">
                <a16:creationId xmlns:a16="http://schemas.microsoft.com/office/drawing/2014/main" id="{3F63738A-801C-DE62-3757-9BFBF0023C2D}"/>
              </a:ext>
            </a:extLst>
          </p:cNvPr>
          <p:cNvCxnSpPr>
            <a:cxnSpLocks/>
          </p:cNvCxnSpPr>
          <p:nvPr/>
        </p:nvCxnSpPr>
        <p:spPr>
          <a:xfrm>
            <a:off x="8970217" y="1214683"/>
            <a:ext cx="0" cy="2423183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ttangolo 19">
            <a:extLst>
              <a:ext uri="{FF2B5EF4-FFF2-40B4-BE49-F238E27FC236}">
                <a16:creationId xmlns:a16="http://schemas.microsoft.com/office/drawing/2014/main" id="{6EEEEADD-5C04-5E12-379B-DB76D7A392FD}"/>
              </a:ext>
            </a:extLst>
          </p:cNvPr>
          <p:cNvSpPr/>
          <p:nvPr/>
        </p:nvSpPr>
        <p:spPr>
          <a:xfrm>
            <a:off x="3069515" y="5202045"/>
            <a:ext cx="2754572" cy="33092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load_model_coordinates()</a:t>
            </a:r>
          </a:p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initialize_blank_data_structure()</a:t>
            </a:r>
          </a:p>
        </p:txBody>
      </p:sp>
      <p:sp>
        <p:nvSpPr>
          <p:cNvPr id="104" name="Rettangolo 19">
            <a:extLst>
              <a:ext uri="{FF2B5EF4-FFF2-40B4-BE49-F238E27FC236}">
                <a16:creationId xmlns:a16="http://schemas.microsoft.com/office/drawing/2014/main" id="{5442149C-5F35-FB8E-9489-B0AB38E04517}"/>
              </a:ext>
            </a:extLst>
          </p:cNvPr>
          <p:cNvSpPr/>
          <p:nvPr/>
        </p:nvSpPr>
        <p:spPr>
          <a:xfrm>
            <a:off x="2626360" y="6341887"/>
            <a:ext cx="3197728" cy="50527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load_exogenous_data_to_sqlite_database()</a:t>
            </a:r>
            <a:endParaRPr lang="en-US" sz="800" noProof="1">
              <a:solidFill>
                <a:schemeClr val="tx1"/>
              </a:solidFill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initialize_problems()</a:t>
            </a:r>
          </a:p>
        </p:txBody>
      </p:sp>
      <p:sp>
        <p:nvSpPr>
          <p:cNvPr id="105" name="Rettangolo 19">
            <a:extLst>
              <a:ext uri="{FF2B5EF4-FFF2-40B4-BE49-F238E27FC236}">
                <a16:creationId xmlns:a16="http://schemas.microsoft.com/office/drawing/2014/main" id="{4ABFF538-EC47-6380-EE6E-53DD52DD1DF1}"/>
              </a:ext>
            </a:extLst>
          </p:cNvPr>
          <p:cNvSpPr/>
          <p:nvPr/>
        </p:nvSpPr>
        <p:spPr>
          <a:xfrm>
            <a:off x="3632368" y="3637866"/>
            <a:ext cx="2191719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 = cvxlab.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Model()</a:t>
            </a:r>
          </a:p>
        </p:txBody>
      </p:sp>
      <p:sp>
        <p:nvSpPr>
          <p:cNvPr id="108" name="Rettangolo 19">
            <a:extLst>
              <a:ext uri="{FF2B5EF4-FFF2-40B4-BE49-F238E27FC236}">
                <a16:creationId xmlns:a16="http://schemas.microsoft.com/office/drawing/2014/main" id="{5A917C93-29CD-7F30-0DE1-9C4025CCD593}"/>
              </a:ext>
            </a:extLst>
          </p:cNvPr>
          <p:cNvSpPr/>
          <p:nvPr/>
        </p:nvSpPr>
        <p:spPr>
          <a:xfrm>
            <a:off x="3913234" y="7236424"/>
            <a:ext cx="1910853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run_model()</a:t>
            </a:r>
          </a:p>
        </p:txBody>
      </p:sp>
      <p:sp>
        <p:nvSpPr>
          <p:cNvPr id="109" name="Rettangolo 19">
            <a:extLst>
              <a:ext uri="{FF2B5EF4-FFF2-40B4-BE49-F238E27FC236}">
                <a16:creationId xmlns:a16="http://schemas.microsoft.com/office/drawing/2014/main" id="{436D5005-8807-1894-B4E7-57127B6E4E04}"/>
              </a:ext>
            </a:extLst>
          </p:cNvPr>
          <p:cNvSpPr/>
          <p:nvPr/>
        </p:nvSpPr>
        <p:spPr>
          <a:xfrm>
            <a:off x="3589868" y="7845720"/>
            <a:ext cx="2234220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 load_results_to_database()</a:t>
            </a:r>
          </a:p>
        </p:txBody>
      </p:sp>
      <p:cxnSp>
        <p:nvCxnSpPr>
          <p:cNvPr id="116" name="Connettore diritto 4">
            <a:extLst>
              <a:ext uri="{FF2B5EF4-FFF2-40B4-BE49-F238E27FC236}">
                <a16:creationId xmlns:a16="http://schemas.microsoft.com/office/drawing/2014/main" id="{D5BBB357-DC00-431B-65D0-D5753F14909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843813" y="3147264"/>
            <a:ext cx="0" cy="49455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ttore diritto 4">
            <a:extLst>
              <a:ext uri="{FF2B5EF4-FFF2-40B4-BE49-F238E27FC236}">
                <a16:creationId xmlns:a16="http://schemas.microsoft.com/office/drawing/2014/main" id="{6E113B52-92FE-C747-E010-515E90DE724F}"/>
              </a:ext>
            </a:extLst>
          </p:cNvPr>
          <p:cNvCxnSpPr>
            <a:cxnSpLocks/>
          </p:cNvCxnSpPr>
          <p:nvPr/>
        </p:nvCxnSpPr>
        <p:spPr>
          <a:xfrm>
            <a:off x="6843813" y="4009050"/>
            <a:ext cx="0" cy="56860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ttore diritto 4">
            <a:extLst>
              <a:ext uri="{FF2B5EF4-FFF2-40B4-BE49-F238E27FC236}">
                <a16:creationId xmlns:a16="http://schemas.microsoft.com/office/drawing/2014/main" id="{65B5C31F-2F1C-5522-7656-668BBA9F105E}"/>
              </a:ext>
            </a:extLst>
          </p:cNvPr>
          <p:cNvCxnSpPr>
            <a:cxnSpLocks/>
          </p:cNvCxnSpPr>
          <p:nvPr/>
        </p:nvCxnSpPr>
        <p:spPr>
          <a:xfrm>
            <a:off x="6843813" y="4944887"/>
            <a:ext cx="0" cy="23900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ttore diritto 4">
            <a:extLst>
              <a:ext uri="{FF2B5EF4-FFF2-40B4-BE49-F238E27FC236}">
                <a16:creationId xmlns:a16="http://schemas.microsoft.com/office/drawing/2014/main" id="{CF19FA50-33B1-66E4-FF8E-5FF6B5BC33B9}"/>
              </a:ext>
            </a:extLst>
          </p:cNvPr>
          <p:cNvCxnSpPr>
            <a:cxnSpLocks/>
          </p:cNvCxnSpPr>
          <p:nvPr/>
        </p:nvCxnSpPr>
        <p:spPr>
          <a:xfrm>
            <a:off x="6827261" y="7603654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ttore diritto 4">
            <a:extLst>
              <a:ext uri="{FF2B5EF4-FFF2-40B4-BE49-F238E27FC236}">
                <a16:creationId xmlns:a16="http://schemas.microsoft.com/office/drawing/2014/main" id="{6A357D92-86C3-5E55-9CDC-E73B8113A705}"/>
              </a:ext>
            </a:extLst>
          </p:cNvPr>
          <p:cNvCxnSpPr>
            <a:cxnSpLocks/>
          </p:cNvCxnSpPr>
          <p:nvPr/>
        </p:nvCxnSpPr>
        <p:spPr>
          <a:xfrm>
            <a:off x="5729285" y="2978066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981812D-AA5C-EECC-1F66-A4F17925D66F}"/>
              </a:ext>
            </a:extLst>
          </p:cNvPr>
          <p:cNvSpPr txBox="1"/>
          <p:nvPr/>
        </p:nvSpPr>
        <p:spPr>
          <a:xfrm>
            <a:off x="4415626" y="2839566"/>
            <a:ext cx="1302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151" name="Connettore diritto 4">
            <a:extLst>
              <a:ext uri="{FF2B5EF4-FFF2-40B4-BE49-F238E27FC236}">
                <a16:creationId xmlns:a16="http://schemas.microsoft.com/office/drawing/2014/main" id="{2872E23A-BBD5-96BE-84CD-2D4AA10BA433}"/>
              </a:ext>
            </a:extLst>
          </p:cNvPr>
          <p:cNvCxnSpPr>
            <a:cxnSpLocks/>
          </p:cNvCxnSpPr>
          <p:nvPr/>
        </p:nvCxnSpPr>
        <p:spPr>
          <a:xfrm>
            <a:off x="5729285" y="4760769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50E368A-6C5E-AB11-41C4-629B494C4F3E}"/>
              </a:ext>
            </a:extLst>
          </p:cNvPr>
          <p:cNvSpPr txBox="1"/>
          <p:nvPr/>
        </p:nvSpPr>
        <p:spPr>
          <a:xfrm>
            <a:off x="4415626" y="4622269"/>
            <a:ext cx="1302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156" name="Connettore diritto 4">
            <a:extLst>
              <a:ext uri="{FF2B5EF4-FFF2-40B4-BE49-F238E27FC236}">
                <a16:creationId xmlns:a16="http://schemas.microsoft.com/office/drawing/2014/main" id="{C8AB521B-030B-D3FD-35E3-85B5B2B638C2}"/>
              </a:ext>
            </a:extLst>
          </p:cNvPr>
          <p:cNvCxnSpPr>
            <a:cxnSpLocks/>
          </p:cNvCxnSpPr>
          <p:nvPr/>
        </p:nvCxnSpPr>
        <p:spPr>
          <a:xfrm>
            <a:off x="5729285" y="5974246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54F2F2EF-5515-BE65-56C7-9784A53CAD43}"/>
              </a:ext>
            </a:extLst>
          </p:cNvPr>
          <p:cNvSpPr txBox="1"/>
          <p:nvPr/>
        </p:nvSpPr>
        <p:spPr>
          <a:xfrm>
            <a:off x="4415626" y="5835746"/>
            <a:ext cx="1302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201" name="Connettore diritto 4">
            <a:extLst>
              <a:ext uri="{FF2B5EF4-FFF2-40B4-BE49-F238E27FC236}">
                <a16:creationId xmlns:a16="http://schemas.microsoft.com/office/drawing/2014/main" id="{5BEC445A-0643-51B4-6404-050FD35C7A9F}"/>
              </a:ext>
            </a:extLst>
          </p:cNvPr>
          <p:cNvCxnSpPr>
            <a:cxnSpLocks/>
          </p:cNvCxnSpPr>
          <p:nvPr/>
        </p:nvCxnSpPr>
        <p:spPr>
          <a:xfrm>
            <a:off x="7791657" y="4944887"/>
            <a:ext cx="0" cy="239006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ttore diritto 4">
            <a:extLst>
              <a:ext uri="{FF2B5EF4-FFF2-40B4-BE49-F238E27FC236}">
                <a16:creationId xmlns:a16="http://schemas.microsoft.com/office/drawing/2014/main" id="{636D8950-6900-8D02-583B-35027138081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8970208" y="4043195"/>
            <a:ext cx="0" cy="1758761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Connettore diritto 4">
            <a:extLst>
              <a:ext uri="{FF2B5EF4-FFF2-40B4-BE49-F238E27FC236}">
                <a16:creationId xmlns:a16="http://schemas.microsoft.com/office/drawing/2014/main" id="{83C8E96F-9959-60E2-5A8A-686459013F82}"/>
              </a:ext>
            </a:extLst>
          </p:cNvPr>
          <p:cNvCxnSpPr>
            <a:cxnSpLocks/>
          </p:cNvCxnSpPr>
          <p:nvPr/>
        </p:nvCxnSpPr>
        <p:spPr>
          <a:xfrm>
            <a:off x="7791657" y="5554182"/>
            <a:ext cx="0" cy="241424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ttore diritto 4">
            <a:extLst>
              <a:ext uri="{FF2B5EF4-FFF2-40B4-BE49-F238E27FC236}">
                <a16:creationId xmlns:a16="http://schemas.microsoft.com/office/drawing/2014/main" id="{91CE803A-149C-A904-E78A-479427BD02CD}"/>
              </a:ext>
            </a:extLst>
          </p:cNvPr>
          <p:cNvCxnSpPr>
            <a:cxnSpLocks/>
          </p:cNvCxnSpPr>
          <p:nvPr/>
        </p:nvCxnSpPr>
        <p:spPr>
          <a:xfrm>
            <a:off x="8415854" y="6162835"/>
            <a:ext cx="0" cy="241424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5C8EDD5F-3D92-6913-DB43-44D51FD89C6E}"/>
              </a:ext>
            </a:extLst>
          </p:cNvPr>
          <p:cNvCxnSpPr>
            <a:cxnSpLocks/>
            <a:stCxn id="12" idx="2"/>
            <a:endCxn id="22" idx="0"/>
          </p:cNvCxnSpPr>
          <p:nvPr/>
        </p:nvCxnSpPr>
        <p:spPr>
          <a:xfrm rot="5400000">
            <a:off x="8113702" y="3721151"/>
            <a:ext cx="534463" cy="117855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C740A37-6856-B1C0-997D-583426787355}"/>
              </a:ext>
            </a:extLst>
          </p:cNvPr>
          <p:cNvSpPr/>
          <p:nvPr/>
        </p:nvSpPr>
        <p:spPr>
          <a:xfrm>
            <a:off x="8943221" y="3986046"/>
            <a:ext cx="53974" cy="571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872846-ABA7-693A-06E2-4440D50A6DCA}"/>
              </a:ext>
            </a:extLst>
          </p:cNvPr>
          <p:cNvSpPr/>
          <p:nvPr/>
        </p:nvSpPr>
        <p:spPr>
          <a:xfrm>
            <a:off x="7764670" y="4577658"/>
            <a:ext cx="53974" cy="571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378DC6E3-E738-077F-E37B-31C135416F63}"/>
              </a:ext>
            </a:extLst>
          </p:cNvPr>
          <p:cNvCxnSpPr>
            <a:cxnSpLocks/>
            <a:stCxn id="12" idx="3"/>
            <a:endCxn id="39" idx="0"/>
          </p:cNvCxnSpPr>
          <p:nvPr/>
        </p:nvCxnSpPr>
        <p:spPr>
          <a:xfrm>
            <a:off x="8997195" y="4014621"/>
            <a:ext cx="613232" cy="3220801"/>
          </a:xfrm>
          <a:prstGeom prst="curvedConnector2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DDDA0468-3578-FA8B-95FF-44A489178909}"/>
              </a:ext>
            </a:extLst>
          </p:cNvPr>
          <p:cNvSpPr/>
          <p:nvPr/>
        </p:nvSpPr>
        <p:spPr>
          <a:xfrm>
            <a:off x="9583440" y="7235422"/>
            <a:ext cx="53974" cy="571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Connettore diritto 4">
            <a:extLst>
              <a:ext uri="{FF2B5EF4-FFF2-40B4-BE49-F238E27FC236}">
                <a16:creationId xmlns:a16="http://schemas.microsoft.com/office/drawing/2014/main" id="{240DD1D3-2600-7D49-1045-559B6DA58EEB}"/>
              </a:ext>
            </a:extLst>
          </p:cNvPr>
          <p:cNvCxnSpPr>
            <a:cxnSpLocks/>
          </p:cNvCxnSpPr>
          <p:nvPr/>
        </p:nvCxnSpPr>
        <p:spPr>
          <a:xfrm>
            <a:off x="8415854" y="6765857"/>
            <a:ext cx="0" cy="46956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diritto 4">
            <a:extLst>
              <a:ext uri="{FF2B5EF4-FFF2-40B4-BE49-F238E27FC236}">
                <a16:creationId xmlns:a16="http://schemas.microsoft.com/office/drawing/2014/main" id="{6D48DDEF-C879-4397-101E-F193CA6B01CB}"/>
              </a:ext>
            </a:extLst>
          </p:cNvPr>
          <p:cNvCxnSpPr>
            <a:cxnSpLocks/>
          </p:cNvCxnSpPr>
          <p:nvPr/>
        </p:nvCxnSpPr>
        <p:spPr>
          <a:xfrm>
            <a:off x="9099022" y="7603653"/>
            <a:ext cx="0" cy="242067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ttangolo 19">
            <a:extLst>
              <a:ext uri="{FF2B5EF4-FFF2-40B4-BE49-F238E27FC236}">
                <a16:creationId xmlns:a16="http://schemas.microsoft.com/office/drawing/2014/main" id="{9F527026-4D7E-2545-0007-719664A53598}"/>
              </a:ext>
            </a:extLst>
          </p:cNvPr>
          <p:cNvSpPr/>
          <p:nvPr/>
        </p:nvSpPr>
        <p:spPr>
          <a:xfrm>
            <a:off x="10086083" y="5286975"/>
            <a:ext cx="2754572" cy="16106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generate_input_data_files()</a:t>
            </a:r>
          </a:p>
        </p:txBody>
      </p:sp>
      <p:sp>
        <p:nvSpPr>
          <p:cNvPr id="162" name="Rettangolo 19">
            <a:extLst>
              <a:ext uri="{FF2B5EF4-FFF2-40B4-BE49-F238E27FC236}">
                <a16:creationId xmlns:a16="http://schemas.microsoft.com/office/drawing/2014/main" id="{FDD35C32-A627-9E3D-04C1-BF997A020B5C}"/>
              </a:ext>
            </a:extLst>
          </p:cNvPr>
          <p:cNvSpPr/>
          <p:nvPr/>
        </p:nvSpPr>
        <p:spPr>
          <a:xfrm>
            <a:off x="10103557" y="6493233"/>
            <a:ext cx="2754572" cy="18928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update_database_and_problem()</a:t>
            </a:r>
          </a:p>
        </p:txBody>
      </p:sp>
    </p:spTree>
    <p:extLst>
      <p:ext uri="{BB962C8B-B14F-4D97-AF65-F5344CB8AC3E}">
        <p14:creationId xmlns:p14="http://schemas.microsoft.com/office/powerpoint/2010/main" val="737336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9">
            <a:extLst>
              <a:ext uri="{FF2B5EF4-FFF2-40B4-BE49-F238E27FC236}">
                <a16:creationId xmlns:a16="http://schemas.microsoft.com/office/drawing/2014/main" id="{20C0A8D1-A40B-7F63-ABBD-AA5E1F8149C7}"/>
              </a:ext>
            </a:extLst>
          </p:cNvPr>
          <p:cNvSpPr/>
          <p:nvPr/>
        </p:nvSpPr>
        <p:spPr>
          <a:xfrm>
            <a:off x="2113093" y="12504280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cvxlab.Model</a:t>
            </a:r>
          </a:p>
        </p:txBody>
      </p:sp>
      <p:cxnSp>
        <p:nvCxnSpPr>
          <p:cNvPr id="6" name="Connettore diritto 4">
            <a:extLst>
              <a:ext uri="{FF2B5EF4-FFF2-40B4-BE49-F238E27FC236}">
                <a16:creationId xmlns:a16="http://schemas.microsoft.com/office/drawing/2014/main" id="{11E24FFE-0B0E-068A-1219-24F0E1B5A524}"/>
              </a:ext>
            </a:extLst>
          </p:cNvPr>
          <p:cNvCxnSpPr>
            <a:cxnSpLocks/>
          </p:cNvCxnSpPr>
          <p:nvPr/>
        </p:nvCxnSpPr>
        <p:spPr>
          <a:xfrm flipH="1">
            <a:off x="3589868" y="12687894"/>
            <a:ext cx="389689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ttangolo 19">
            <a:extLst>
              <a:ext uri="{FF2B5EF4-FFF2-40B4-BE49-F238E27FC236}">
                <a16:creationId xmlns:a16="http://schemas.microsoft.com/office/drawing/2014/main" id="{7195E273-BC7B-A117-CAFB-3C11A52BB59E}"/>
              </a:ext>
            </a:extLst>
          </p:cNvPr>
          <p:cNvSpPr/>
          <p:nvPr/>
        </p:nvSpPr>
        <p:spPr>
          <a:xfrm>
            <a:off x="4000983" y="12504278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cvxlab.Model.Core</a:t>
            </a:r>
          </a:p>
        </p:txBody>
      </p:sp>
      <p:sp>
        <p:nvSpPr>
          <p:cNvPr id="65" name="Rettangolo 19">
            <a:extLst>
              <a:ext uri="{FF2B5EF4-FFF2-40B4-BE49-F238E27FC236}">
                <a16:creationId xmlns:a16="http://schemas.microsoft.com/office/drawing/2014/main" id="{717E0688-2AEB-0EFF-B16F-4EACF667088D}"/>
              </a:ext>
            </a:extLst>
          </p:cNvPr>
          <p:cNvSpPr/>
          <p:nvPr/>
        </p:nvSpPr>
        <p:spPr>
          <a:xfrm>
            <a:off x="5772001" y="5358617"/>
            <a:ext cx="1173060" cy="345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Model()</a:t>
            </a:r>
          </a:p>
        </p:txBody>
      </p:sp>
      <p:sp>
        <p:nvSpPr>
          <p:cNvPr id="66" name="Rettangolo 19">
            <a:extLst>
              <a:ext uri="{FF2B5EF4-FFF2-40B4-BE49-F238E27FC236}">
                <a16:creationId xmlns:a16="http://schemas.microsoft.com/office/drawing/2014/main" id="{BFC407C3-6D1C-6633-FE87-98E9E806E3B2}"/>
              </a:ext>
            </a:extLst>
          </p:cNvPr>
          <p:cNvSpPr/>
          <p:nvPr/>
        </p:nvSpPr>
        <p:spPr>
          <a:xfrm>
            <a:off x="8639175" y="6426924"/>
            <a:ext cx="1457802" cy="3313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PBIManager()</a:t>
            </a:r>
          </a:p>
        </p:txBody>
      </p:sp>
      <p:sp>
        <p:nvSpPr>
          <p:cNvPr id="67" name="Rettangolo 19">
            <a:extLst>
              <a:ext uri="{FF2B5EF4-FFF2-40B4-BE49-F238E27FC236}">
                <a16:creationId xmlns:a16="http://schemas.microsoft.com/office/drawing/2014/main" id="{52B672EA-FCB8-9638-37BC-3CF5F2C34AA6}"/>
              </a:ext>
            </a:extLst>
          </p:cNvPr>
          <p:cNvSpPr/>
          <p:nvPr/>
        </p:nvSpPr>
        <p:spPr>
          <a:xfrm>
            <a:off x="6771632" y="6426924"/>
            <a:ext cx="1173060" cy="3313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Core()</a:t>
            </a:r>
          </a:p>
        </p:txBody>
      </p:sp>
      <p:cxnSp>
        <p:nvCxnSpPr>
          <p:cNvPr id="68" name="Connettore diritto 4">
            <a:extLst>
              <a:ext uri="{FF2B5EF4-FFF2-40B4-BE49-F238E27FC236}">
                <a16:creationId xmlns:a16="http://schemas.microsoft.com/office/drawing/2014/main" id="{4EED7354-F839-576F-0933-30552CEF68C2}"/>
              </a:ext>
            </a:extLst>
          </p:cNvPr>
          <p:cNvCxnSpPr>
            <a:cxnSpLocks/>
          </p:cNvCxnSpPr>
          <p:nvPr/>
        </p:nvCxnSpPr>
        <p:spPr>
          <a:xfrm flipV="1">
            <a:off x="6358531" y="5763564"/>
            <a:ext cx="0" cy="2943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ttangolo 19">
            <a:extLst>
              <a:ext uri="{FF2B5EF4-FFF2-40B4-BE49-F238E27FC236}">
                <a16:creationId xmlns:a16="http://schemas.microsoft.com/office/drawing/2014/main" id="{F519C50E-4668-3DE5-0993-AAD9F4694826}"/>
              </a:ext>
            </a:extLst>
          </p:cNvPr>
          <p:cNvSpPr/>
          <p:nvPr/>
        </p:nvSpPr>
        <p:spPr>
          <a:xfrm>
            <a:off x="3123481" y="6426926"/>
            <a:ext cx="1049831" cy="3313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</p:txBody>
      </p:sp>
      <p:sp>
        <p:nvSpPr>
          <p:cNvPr id="70" name="Rettangolo 19">
            <a:extLst>
              <a:ext uri="{FF2B5EF4-FFF2-40B4-BE49-F238E27FC236}">
                <a16:creationId xmlns:a16="http://schemas.microsoft.com/office/drawing/2014/main" id="{5589EF4D-B617-993A-2ACB-B320ACF26DCF}"/>
              </a:ext>
            </a:extLst>
          </p:cNvPr>
          <p:cNvSpPr/>
          <p:nvPr/>
        </p:nvSpPr>
        <p:spPr>
          <a:xfrm>
            <a:off x="3693546" y="7875232"/>
            <a:ext cx="1371769" cy="3231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SQLManager()</a:t>
            </a:r>
          </a:p>
        </p:txBody>
      </p:sp>
      <p:sp>
        <p:nvSpPr>
          <p:cNvPr id="71" name="Right Brace 70">
            <a:extLst>
              <a:ext uri="{FF2B5EF4-FFF2-40B4-BE49-F238E27FC236}">
                <a16:creationId xmlns:a16="http://schemas.microsoft.com/office/drawing/2014/main" id="{65019F4D-7A8E-AF72-013F-541689273227}"/>
              </a:ext>
            </a:extLst>
          </p:cNvPr>
          <p:cNvSpPr/>
          <p:nvPr/>
        </p:nvSpPr>
        <p:spPr>
          <a:xfrm rot="16200000">
            <a:off x="6415234" y="3369883"/>
            <a:ext cx="209643" cy="5696040"/>
          </a:xfrm>
          <a:prstGeom prst="rightBrace">
            <a:avLst>
              <a:gd name="adj1" fmla="val 8333"/>
              <a:gd name="adj2" fmla="val 47216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2" name="Right Brace 71">
            <a:extLst>
              <a:ext uri="{FF2B5EF4-FFF2-40B4-BE49-F238E27FC236}">
                <a16:creationId xmlns:a16="http://schemas.microsoft.com/office/drawing/2014/main" id="{2C36FE0F-6556-49E8-1908-CC70212A02C7}"/>
              </a:ext>
            </a:extLst>
          </p:cNvPr>
          <p:cNvSpPr/>
          <p:nvPr/>
        </p:nvSpPr>
        <p:spPr>
          <a:xfrm rot="16200000">
            <a:off x="7424771" y="4492574"/>
            <a:ext cx="209643" cy="6347275"/>
          </a:xfrm>
          <a:prstGeom prst="rightBrace">
            <a:avLst>
              <a:gd name="adj1" fmla="val 8333"/>
              <a:gd name="adj2" fmla="val 47226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3" name="Rettangolo 19">
            <a:extLst>
              <a:ext uri="{FF2B5EF4-FFF2-40B4-BE49-F238E27FC236}">
                <a16:creationId xmlns:a16="http://schemas.microsoft.com/office/drawing/2014/main" id="{8D88458D-44E9-9B5A-AEE0-D6ECE1DE4ED3}"/>
              </a:ext>
            </a:extLst>
          </p:cNvPr>
          <p:cNvSpPr/>
          <p:nvPr/>
        </p:nvSpPr>
        <p:spPr>
          <a:xfrm>
            <a:off x="6713617" y="6774620"/>
            <a:ext cx="1217792" cy="3449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FileManager()</a:t>
            </a:r>
          </a:p>
        </p:txBody>
      </p:sp>
      <p:sp>
        <p:nvSpPr>
          <p:cNvPr id="74" name="Rettangolo 19">
            <a:extLst>
              <a:ext uri="{FF2B5EF4-FFF2-40B4-BE49-F238E27FC236}">
                <a16:creationId xmlns:a16="http://schemas.microsoft.com/office/drawing/2014/main" id="{93B7FEF8-1126-2735-28D4-B6EFF71D03E5}"/>
              </a:ext>
            </a:extLst>
          </p:cNvPr>
          <p:cNvSpPr/>
          <p:nvPr/>
        </p:nvSpPr>
        <p:spPr>
          <a:xfrm>
            <a:off x="8561947" y="6758295"/>
            <a:ext cx="806129" cy="2437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</p:txBody>
      </p:sp>
      <p:sp>
        <p:nvSpPr>
          <p:cNvPr id="75" name="Rettangolo 19">
            <a:extLst>
              <a:ext uri="{FF2B5EF4-FFF2-40B4-BE49-F238E27FC236}">
                <a16:creationId xmlns:a16="http://schemas.microsoft.com/office/drawing/2014/main" id="{1F74D205-0242-2EBE-2B62-7CEBF237B71E}"/>
              </a:ext>
            </a:extLst>
          </p:cNvPr>
          <p:cNvSpPr/>
          <p:nvPr/>
        </p:nvSpPr>
        <p:spPr>
          <a:xfrm>
            <a:off x="5851499" y="7875233"/>
            <a:ext cx="883172" cy="3231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Index()</a:t>
            </a:r>
          </a:p>
        </p:txBody>
      </p:sp>
      <p:sp>
        <p:nvSpPr>
          <p:cNvPr id="76" name="Rettangolo 19">
            <a:extLst>
              <a:ext uri="{FF2B5EF4-FFF2-40B4-BE49-F238E27FC236}">
                <a16:creationId xmlns:a16="http://schemas.microsoft.com/office/drawing/2014/main" id="{E8C53BF4-CE96-8ECD-242D-18D3594CD633}"/>
              </a:ext>
            </a:extLst>
          </p:cNvPr>
          <p:cNvSpPr/>
          <p:nvPr/>
        </p:nvSpPr>
        <p:spPr>
          <a:xfrm>
            <a:off x="7671455" y="7875232"/>
            <a:ext cx="1204326" cy="3231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Database()</a:t>
            </a:r>
          </a:p>
        </p:txBody>
      </p:sp>
      <p:sp>
        <p:nvSpPr>
          <p:cNvPr id="77" name="Rettangolo 19">
            <a:extLst>
              <a:ext uri="{FF2B5EF4-FFF2-40B4-BE49-F238E27FC236}">
                <a16:creationId xmlns:a16="http://schemas.microsoft.com/office/drawing/2014/main" id="{FBF4BAFE-A920-6BF1-002E-ECAB96A7CDA7}"/>
              </a:ext>
            </a:extLst>
          </p:cNvPr>
          <p:cNvSpPr/>
          <p:nvPr/>
        </p:nvSpPr>
        <p:spPr>
          <a:xfrm>
            <a:off x="10085238" y="7876605"/>
            <a:ext cx="1204326" cy="3231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Problem()</a:t>
            </a:r>
          </a:p>
        </p:txBody>
      </p:sp>
      <p:sp>
        <p:nvSpPr>
          <p:cNvPr id="81" name="Rettangolo 19">
            <a:extLst>
              <a:ext uri="{FF2B5EF4-FFF2-40B4-BE49-F238E27FC236}">
                <a16:creationId xmlns:a16="http://schemas.microsoft.com/office/drawing/2014/main" id="{FA764A8B-9D3F-180C-F5AC-76E2E2B96027}"/>
              </a:ext>
            </a:extLst>
          </p:cNvPr>
          <p:cNvSpPr/>
          <p:nvPr/>
        </p:nvSpPr>
        <p:spPr>
          <a:xfrm>
            <a:off x="3672035" y="8223179"/>
            <a:ext cx="806129" cy="2437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</p:txBody>
      </p:sp>
      <p:sp>
        <p:nvSpPr>
          <p:cNvPr id="82" name="Rettangolo 19">
            <a:extLst>
              <a:ext uri="{FF2B5EF4-FFF2-40B4-BE49-F238E27FC236}">
                <a16:creationId xmlns:a16="http://schemas.microsoft.com/office/drawing/2014/main" id="{322F9839-B26F-483D-00B7-135A040666FF}"/>
              </a:ext>
            </a:extLst>
          </p:cNvPr>
          <p:cNvSpPr/>
          <p:nvPr/>
        </p:nvSpPr>
        <p:spPr>
          <a:xfrm>
            <a:off x="4741241" y="6426926"/>
            <a:ext cx="1455941" cy="3313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FileManager()</a:t>
            </a:r>
          </a:p>
        </p:txBody>
      </p:sp>
      <p:sp>
        <p:nvSpPr>
          <p:cNvPr id="85" name="Rettangolo 19">
            <a:extLst>
              <a:ext uri="{FF2B5EF4-FFF2-40B4-BE49-F238E27FC236}">
                <a16:creationId xmlns:a16="http://schemas.microsoft.com/office/drawing/2014/main" id="{095503C4-5E65-8482-CC1B-54F52C8316B5}"/>
              </a:ext>
            </a:extLst>
          </p:cNvPr>
          <p:cNvSpPr/>
          <p:nvPr/>
        </p:nvSpPr>
        <p:spPr>
          <a:xfrm>
            <a:off x="5793436" y="8239762"/>
            <a:ext cx="1217792" cy="3449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FileManager()</a:t>
            </a:r>
          </a:p>
        </p:txBody>
      </p:sp>
      <p:sp>
        <p:nvSpPr>
          <p:cNvPr id="86" name="Rettangolo 19">
            <a:extLst>
              <a:ext uri="{FF2B5EF4-FFF2-40B4-BE49-F238E27FC236}">
                <a16:creationId xmlns:a16="http://schemas.microsoft.com/office/drawing/2014/main" id="{1F265DA9-A5E9-C00B-639F-E3357B002176}"/>
              </a:ext>
            </a:extLst>
          </p:cNvPr>
          <p:cNvSpPr/>
          <p:nvPr/>
        </p:nvSpPr>
        <p:spPr>
          <a:xfrm>
            <a:off x="7632008" y="8233147"/>
            <a:ext cx="1217792" cy="6463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FileManager()</a:t>
            </a:r>
          </a:p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SQLManager()</a:t>
            </a:r>
          </a:p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Index()</a:t>
            </a:r>
          </a:p>
        </p:txBody>
      </p:sp>
      <p:sp>
        <p:nvSpPr>
          <p:cNvPr id="87" name="Rettangolo 19">
            <a:extLst>
              <a:ext uri="{FF2B5EF4-FFF2-40B4-BE49-F238E27FC236}">
                <a16:creationId xmlns:a16="http://schemas.microsoft.com/office/drawing/2014/main" id="{5B3FEDA5-6FA0-C8AD-00A9-A7911D136BBB}"/>
              </a:ext>
            </a:extLst>
          </p:cNvPr>
          <p:cNvSpPr/>
          <p:nvPr/>
        </p:nvSpPr>
        <p:spPr>
          <a:xfrm>
            <a:off x="10060658" y="8233147"/>
            <a:ext cx="1217792" cy="5276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FileManager()</a:t>
            </a:r>
          </a:p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Index()</a:t>
            </a:r>
          </a:p>
        </p:txBody>
      </p:sp>
      <p:cxnSp>
        <p:nvCxnSpPr>
          <p:cNvPr id="88" name="Connettore diritto 4">
            <a:extLst>
              <a:ext uri="{FF2B5EF4-FFF2-40B4-BE49-F238E27FC236}">
                <a16:creationId xmlns:a16="http://schemas.microsoft.com/office/drawing/2014/main" id="{EDA0EC3C-0FC2-E1EB-9CD4-16806EB504D3}"/>
              </a:ext>
            </a:extLst>
          </p:cNvPr>
          <p:cNvCxnSpPr>
            <a:cxnSpLocks/>
          </p:cNvCxnSpPr>
          <p:nvPr/>
        </p:nvCxnSpPr>
        <p:spPr>
          <a:xfrm flipV="1">
            <a:off x="6297550" y="8678754"/>
            <a:ext cx="0" cy="363071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ight Brace 88">
            <a:extLst>
              <a:ext uri="{FF2B5EF4-FFF2-40B4-BE49-F238E27FC236}">
                <a16:creationId xmlns:a16="http://schemas.microsoft.com/office/drawing/2014/main" id="{4B3721DD-B02A-6470-264D-DEBEEA7894AB}"/>
              </a:ext>
            </a:extLst>
          </p:cNvPr>
          <p:cNvSpPr/>
          <p:nvPr/>
        </p:nvSpPr>
        <p:spPr>
          <a:xfrm rot="16200000">
            <a:off x="6476776" y="7254834"/>
            <a:ext cx="209644" cy="3890464"/>
          </a:xfrm>
          <a:prstGeom prst="rightBrace">
            <a:avLst>
              <a:gd name="adj1" fmla="val 8333"/>
              <a:gd name="adj2" fmla="val 42592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0" name="Rettangolo 19">
            <a:extLst>
              <a:ext uri="{FF2B5EF4-FFF2-40B4-BE49-F238E27FC236}">
                <a16:creationId xmlns:a16="http://schemas.microsoft.com/office/drawing/2014/main" id="{C5F027DC-2478-31D8-67E6-35C15FEF2E14}"/>
              </a:ext>
            </a:extLst>
          </p:cNvPr>
          <p:cNvSpPr/>
          <p:nvPr/>
        </p:nvSpPr>
        <p:spPr>
          <a:xfrm>
            <a:off x="4090294" y="9427483"/>
            <a:ext cx="1205206" cy="3231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SetTable()</a:t>
            </a:r>
          </a:p>
        </p:txBody>
      </p:sp>
      <p:sp>
        <p:nvSpPr>
          <p:cNvPr id="91" name="Rettangolo 19">
            <a:extLst>
              <a:ext uri="{FF2B5EF4-FFF2-40B4-BE49-F238E27FC236}">
                <a16:creationId xmlns:a16="http://schemas.microsoft.com/office/drawing/2014/main" id="{2E7FE958-56F6-604C-E3D8-D0ABDC1067CE}"/>
              </a:ext>
            </a:extLst>
          </p:cNvPr>
          <p:cNvSpPr/>
          <p:nvPr/>
        </p:nvSpPr>
        <p:spPr>
          <a:xfrm>
            <a:off x="5641141" y="9427483"/>
            <a:ext cx="1338018" cy="3231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DataTable()</a:t>
            </a:r>
          </a:p>
        </p:txBody>
      </p:sp>
      <p:sp>
        <p:nvSpPr>
          <p:cNvPr id="92" name="Rettangolo 19">
            <a:extLst>
              <a:ext uri="{FF2B5EF4-FFF2-40B4-BE49-F238E27FC236}">
                <a16:creationId xmlns:a16="http://schemas.microsoft.com/office/drawing/2014/main" id="{2E574F1C-0731-1A48-FEEB-22C035EB7FDA}"/>
              </a:ext>
            </a:extLst>
          </p:cNvPr>
          <p:cNvSpPr/>
          <p:nvPr/>
        </p:nvSpPr>
        <p:spPr>
          <a:xfrm>
            <a:off x="4056587" y="9787001"/>
            <a:ext cx="806129" cy="2437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</p:txBody>
      </p:sp>
      <p:sp>
        <p:nvSpPr>
          <p:cNvPr id="93" name="Rettangolo 19">
            <a:extLst>
              <a:ext uri="{FF2B5EF4-FFF2-40B4-BE49-F238E27FC236}">
                <a16:creationId xmlns:a16="http://schemas.microsoft.com/office/drawing/2014/main" id="{5FFB443D-5170-1F5D-AE45-282E2F7EA141}"/>
              </a:ext>
            </a:extLst>
          </p:cNvPr>
          <p:cNvSpPr/>
          <p:nvPr/>
        </p:nvSpPr>
        <p:spPr>
          <a:xfrm>
            <a:off x="5678757" y="9787001"/>
            <a:ext cx="806129" cy="2437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</p:txBody>
      </p:sp>
      <p:sp>
        <p:nvSpPr>
          <p:cNvPr id="94" name="Rettangolo 19">
            <a:extLst>
              <a:ext uri="{FF2B5EF4-FFF2-40B4-BE49-F238E27FC236}">
                <a16:creationId xmlns:a16="http://schemas.microsoft.com/office/drawing/2014/main" id="{EE1B8A08-DF4E-3490-FAA1-95B75671FC79}"/>
              </a:ext>
            </a:extLst>
          </p:cNvPr>
          <p:cNvSpPr/>
          <p:nvPr/>
        </p:nvSpPr>
        <p:spPr>
          <a:xfrm>
            <a:off x="4741241" y="6758295"/>
            <a:ext cx="806129" cy="2437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</p:txBody>
      </p:sp>
      <p:cxnSp>
        <p:nvCxnSpPr>
          <p:cNvPr id="95" name="Connettore diritto 4">
            <a:extLst>
              <a:ext uri="{FF2B5EF4-FFF2-40B4-BE49-F238E27FC236}">
                <a16:creationId xmlns:a16="http://schemas.microsoft.com/office/drawing/2014/main" id="{9C38E6E4-1877-2B0F-92EE-48E2E58119C3}"/>
              </a:ext>
            </a:extLst>
          </p:cNvPr>
          <p:cNvCxnSpPr>
            <a:cxnSpLocks/>
          </p:cNvCxnSpPr>
          <p:nvPr/>
        </p:nvCxnSpPr>
        <p:spPr>
          <a:xfrm flipV="1">
            <a:off x="7353221" y="7204302"/>
            <a:ext cx="0" cy="2943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ttangolo 19">
            <a:extLst>
              <a:ext uri="{FF2B5EF4-FFF2-40B4-BE49-F238E27FC236}">
                <a16:creationId xmlns:a16="http://schemas.microsoft.com/office/drawing/2014/main" id="{D4CE0B48-832B-9701-B5A4-BBD4022F329B}"/>
              </a:ext>
            </a:extLst>
          </p:cNvPr>
          <p:cNvSpPr/>
          <p:nvPr/>
        </p:nvSpPr>
        <p:spPr>
          <a:xfrm>
            <a:off x="7324800" y="9427483"/>
            <a:ext cx="1202058" cy="3231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Variable()</a:t>
            </a:r>
          </a:p>
        </p:txBody>
      </p:sp>
      <p:sp>
        <p:nvSpPr>
          <p:cNvPr id="97" name="Rettangolo 19">
            <a:extLst>
              <a:ext uri="{FF2B5EF4-FFF2-40B4-BE49-F238E27FC236}">
                <a16:creationId xmlns:a16="http://schemas.microsoft.com/office/drawing/2014/main" id="{95E8AB05-B24A-6827-E7FE-DDE3910A8F05}"/>
              </a:ext>
            </a:extLst>
          </p:cNvPr>
          <p:cNvSpPr/>
          <p:nvPr/>
        </p:nvSpPr>
        <p:spPr>
          <a:xfrm>
            <a:off x="7278560" y="9787001"/>
            <a:ext cx="806129" cy="2437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Logger()</a:t>
            </a:r>
          </a:p>
        </p:txBody>
      </p:sp>
      <p:sp>
        <p:nvSpPr>
          <p:cNvPr id="98" name="Rettangolo 19">
            <a:extLst>
              <a:ext uri="{FF2B5EF4-FFF2-40B4-BE49-F238E27FC236}">
                <a16:creationId xmlns:a16="http://schemas.microsoft.com/office/drawing/2014/main" id="{A39FFF98-26F8-9C61-1683-0DC5F7FBE004}"/>
              </a:ext>
            </a:extLst>
          </p:cNvPr>
          <p:cNvSpPr/>
          <p:nvPr/>
        </p:nvSpPr>
        <p:spPr>
          <a:xfrm>
            <a:off x="8424998" y="5358617"/>
            <a:ext cx="1533770" cy="345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Constants()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905594-BFAE-F51B-E56C-E746163EC54C}"/>
              </a:ext>
            </a:extLst>
          </p:cNvPr>
          <p:cNvSpPr/>
          <p:nvPr/>
        </p:nvSpPr>
        <p:spPr>
          <a:xfrm>
            <a:off x="3517565" y="16352851"/>
            <a:ext cx="1156386" cy="641942"/>
          </a:xfrm>
          <a:prstGeom prst="rect">
            <a:avLst/>
          </a:prstGeom>
          <a:solidFill>
            <a:srgbClr val="1A1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600" dirty="0"/>
              <a:t>Energy </a:t>
            </a:r>
          </a:p>
          <a:p>
            <a:r>
              <a:rPr lang="it-IT" sz="1600" dirty="0"/>
              <a:t>model</a:t>
            </a:r>
          </a:p>
        </p:txBody>
      </p:sp>
      <p:pic>
        <p:nvPicPr>
          <p:cNvPr id="4" name="Picture 3" descr="database icon">
            <a:hlinkClick r:id="rId2" tooltip="database icon"/>
            <a:extLst>
              <a:ext uri="{FF2B5EF4-FFF2-40B4-BE49-F238E27FC236}">
                <a16:creationId xmlns:a16="http://schemas.microsoft.com/office/drawing/2014/main" id="{B1C9C6A4-A087-9D81-4066-B5F7A8C22B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6921" y="16841412"/>
            <a:ext cx="808936" cy="8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14">
                <a:extLst>
                  <a:ext uri="{FF2B5EF4-FFF2-40B4-BE49-F238E27FC236}">
                    <a16:creationId xmlns:a16="http://schemas.microsoft.com/office/drawing/2014/main" id="{5C78A347-FF1F-BD7B-00E0-EC0256C9C27E}"/>
                  </a:ext>
                </a:extLst>
              </p:cNvPr>
              <p:cNvSpPr txBox="1"/>
              <p:nvPr/>
            </p:nvSpPr>
            <p:spPr>
              <a:xfrm>
                <a:off x="3460577" y="15556455"/>
                <a:ext cx="12703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1400" b="1" dirty="0">
                    <a:latin typeface="Trebuchet MS" panose="020B0603020202020204" pitchFamily="34" charset="0"/>
                  </a:rPr>
                  <a:t>Iteration</a:t>
                </a:r>
                <a:endParaRPr lang="it-IT" sz="1400" b="1" i="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1400" b="1" i="0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sz="1400" b="1" dirty="0"/>
              </a:p>
            </p:txBody>
          </p:sp>
        </mc:Choice>
        <mc:Fallback>
          <p:sp>
            <p:nvSpPr>
              <p:cNvPr id="5" name="TextBox 14">
                <a:extLst>
                  <a:ext uri="{FF2B5EF4-FFF2-40B4-BE49-F238E27FC236}">
                    <a16:creationId xmlns:a16="http://schemas.microsoft.com/office/drawing/2014/main" id="{5C78A347-FF1F-BD7B-00E0-EC0256C9C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0577" y="15556455"/>
                <a:ext cx="1270361" cy="523220"/>
              </a:xfrm>
              <a:prstGeom prst="rect">
                <a:avLst/>
              </a:prstGeom>
              <a:blipFill>
                <a:blip r:embed="rId4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72E1262-8676-51B0-0D77-150992321C0E}"/>
              </a:ext>
            </a:extLst>
          </p:cNvPr>
          <p:cNvSpPr/>
          <p:nvPr/>
        </p:nvSpPr>
        <p:spPr>
          <a:xfrm>
            <a:off x="3517565" y="17529579"/>
            <a:ext cx="1156386" cy="641942"/>
          </a:xfrm>
          <a:prstGeom prst="rect">
            <a:avLst/>
          </a:prstGeom>
          <a:solidFill>
            <a:srgbClr val="839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600" dirty="0" err="1"/>
              <a:t>Economic</a:t>
            </a:r>
            <a:r>
              <a:rPr lang="it-IT" sz="1600" dirty="0"/>
              <a:t> </a:t>
            </a:r>
          </a:p>
          <a:p>
            <a:r>
              <a:rPr lang="it-IT" sz="1600" dirty="0"/>
              <a:t>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EFDC0B-44E2-B1C3-25D4-78E7BCF4E237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077824" y="17850550"/>
            <a:ext cx="43974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29">
            <a:extLst>
              <a:ext uri="{FF2B5EF4-FFF2-40B4-BE49-F238E27FC236}">
                <a16:creationId xmlns:a16="http://schemas.microsoft.com/office/drawing/2014/main" id="{A0F92A42-E070-5FCA-F709-CCD5F2B6D107}"/>
              </a:ext>
            </a:extLst>
          </p:cNvPr>
          <p:cNvSpPr txBox="1"/>
          <p:nvPr/>
        </p:nvSpPr>
        <p:spPr>
          <a:xfrm>
            <a:off x="1189596" y="16892853"/>
            <a:ext cx="14840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400" b="1" dirty="0">
                <a:latin typeface="Trebuchet MS" panose="020B0603020202020204" pitchFamily="34" charset="0"/>
              </a:rPr>
              <a:t>Exogenous </a:t>
            </a:r>
          </a:p>
          <a:p>
            <a:pPr algn="r"/>
            <a:r>
              <a:rPr lang="en-US" sz="1400" b="1" dirty="0">
                <a:latin typeface="Trebuchet MS" panose="020B0603020202020204" pitchFamily="34" charset="0"/>
              </a:rPr>
              <a:t>parameters </a:t>
            </a:r>
          </a:p>
          <a:p>
            <a:pPr algn="r"/>
            <a:r>
              <a:rPr lang="en-US" sz="1400" b="1" dirty="0">
                <a:latin typeface="Trebuchet MS" panose="020B0603020202020204" pitchFamily="34" charset="0"/>
              </a:rPr>
              <a:t>(first guesses)</a:t>
            </a:r>
            <a:endParaRPr lang="it-IT" sz="1400" b="1" i="0" dirty="0">
              <a:latin typeface="Cambria Math" panose="02040503050406030204" pitchFamily="18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957A18A6-4DB7-1345-82D7-9665FF89280D}"/>
              </a:ext>
            </a:extLst>
          </p:cNvPr>
          <p:cNvSpPr/>
          <p:nvPr/>
        </p:nvSpPr>
        <p:spPr>
          <a:xfrm>
            <a:off x="2740545" y="16673822"/>
            <a:ext cx="224852" cy="117672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/>
          </a:p>
        </p:txBody>
      </p:sp>
      <p:sp>
        <p:nvSpPr>
          <p:cNvPr id="11" name="TextBox 31">
            <a:extLst>
              <a:ext uri="{FF2B5EF4-FFF2-40B4-BE49-F238E27FC236}">
                <a16:creationId xmlns:a16="http://schemas.microsoft.com/office/drawing/2014/main" id="{2442A708-BB11-1322-AEED-56CBDF5D2597}"/>
              </a:ext>
            </a:extLst>
          </p:cNvPr>
          <p:cNvSpPr txBox="1"/>
          <p:nvPr/>
        </p:nvSpPr>
        <p:spPr>
          <a:xfrm>
            <a:off x="4824696" y="15469525"/>
            <a:ext cx="169338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noProof="0" dirty="0"/>
              <a:t>Endogenous / exogenous data exchange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D60B45E-47A1-369D-435F-A2A0232F0C6C}"/>
              </a:ext>
            </a:extLst>
          </p:cNvPr>
          <p:cNvCxnSpPr>
            <a:cxnSpLocks/>
          </p:cNvCxnSpPr>
          <p:nvPr/>
        </p:nvCxnSpPr>
        <p:spPr>
          <a:xfrm>
            <a:off x="3077824" y="16673822"/>
            <a:ext cx="43974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4B0676C-3C22-CC3E-FAC1-5ED7FE949A5D}"/>
              </a:ext>
            </a:extLst>
          </p:cNvPr>
          <p:cNvSpPr/>
          <p:nvPr/>
        </p:nvSpPr>
        <p:spPr>
          <a:xfrm>
            <a:off x="6668826" y="16352851"/>
            <a:ext cx="1156386" cy="641942"/>
          </a:xfrm>
          <a:prstGeom prst="rect">
            <a:avLst/>
          </a:prstGeom>
          <a:solidFill>
            <a:srgbClr val="1A1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600" dirty="0"/>
              <a:t>Energy </a:t>
            </a:r>
          </a:p>
          <a:p>
            <a:r>
              <a:rPr lang="it-IT" sz="1600" dirty="0"/>
              <a:t>model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421088-6542-5189-9CAF-5A2F4D3CD9BF}"/>
              </a:ext>
            </a:extLst>
          </p:cNvPr>
          <p:cNvSpPr/>
          <p:nvPr/>
        </p:nvSpPr>
        <p:spPr>
          <a:xfrm>
            <a:off x="6668826" y="17529579"/>
            <a:ext cx="1156386" cy="641942"/>
          </a:xfrm>
          <a:prstGeom prst="rect">
            <a:avLst/>
          </a:prstGeom>
          <a:solidFill>
            <a:srgbClr val="839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600" dirty="0" err="1"/>
              <a:t>Economic</a:t>
            </a:r>
            <a:r>
              <a:rPr lang="it-IT" sz="1600" dirty="0"/>
              <a:t> </a:t>
            </a:r>
          </a:p>
          <a:p>
            <a:r>
              <a:rPr lang="it-IT" sz="1600" dirty="0"/>
              <a:t>model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21B786BF-D84B-EBFA-01AF-1A67CF61F45E}"/>
              </a:ext>
            </a:extLst>
          </p:cNvPr>
          <p:cNvCxnSpPr>
            <a:stCxn id="3" idx="3"/>
          </p:cNvCxnSpPr>
          <p:nvPr/>
        </p:nvCxnSpPr>
        <p:spPr>
          <a:xfrm>
            <a:off x="4673951" y="16673822"/>
            <a:ext cx="592970" cy="320971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07F0E72-CE76-3037-0AFC-2940B9680730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673951" y="17414106"/>
            <a:ext cx="552168" cy="436444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9BD7252-C997-B36A-AFA0-E84BE9E904BE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6075856" y="16673822"/>
            <a:ext cx="592970" cy="385532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1741EC1-BD7B-A6BD-022C-734DB9157CCA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075856" y="17354850"/>
            <a:ext cx="592970" cy="495700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database icon">
            <a:hlinkClick r:id="rId2" tooltip="database icon"/>
            <a:extLst>
              <a:ext uri="{FF2B5EF4-FFF2-40B4-BE49-F238E27FC236}">
                <a16:creationId xmlns:a16="http://schemas.microsoft.com/office/drawing/2014/main" id="{DBEA101C-77F6-AD19-FEED-CB3D562EE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8182" y="16841412"/>
            <a:ext cx="808936" cy="8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86E69AFA-C31A-A36F-AD11-BDD30B5BCC22}"/>
              </a:ext>
            </a:extLst>
          </p:cNvPr>
          <p:cNvCxnSpPr/>
          <p:nvPr/>
        </p:nvCxnSpPr>
        <p:spPr>
          <a:xfrm>
            <a:off x="7825212" y="16673822"/>
            <a:ext cx="592970" cy="320971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DB5C36E2-BAAB-D815-D7C8-A7B07525599D}"/>
              </a:ext>
            </a:extLst>
          </p:cNvPr>
          <p:cNvCxnSpPr>
            <a:cxnSpLocks/>
          </p:cNvCxnSpPr>
          <p:nvPr/>
        </p:nvCxnSpPr>
        <p:spPr>
          <a:xfrm flipV="1">
            <a:off x="7825212" y="17414106"/>
            <a:ext cx="552168" cy="436444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78">
                <a:extLst>
                  <a:ext uri="{FF2B5EF4-FFF2-40B4-BE49-F238E27FC236}">
                    <a16:creationId xmlns:a16="http://schemas.microsoft.com/office/drawing/2014/main" id="{62DD9D91-E809-9B33-C779-20BC5E00991B}"/>
                  </a:ext>
                </a:extLst>
              </p:cNvPr>
              <p:cNvSpPr txBox="1"/>
              <p:nvPr/>
            </p:nvSpPr>
            <p:spPr>
              <a:xfrm>
                <a:off x="6697338" y="15556455"/>
                <a:ext cx="12703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1400" b="1" dirty="0">
                    <a:latin typeface="Trebuchet MS" panose="020B0603020202020204" pitchFamily="34" charset="0"/>
                  </a:rPr>
                  <a:t>Iteration</a:t>
                </a:r>
                <a:endParaRPr lang="it-IT" sz="1400" b="1" i="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4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1400" b="1" dirty="0"/>
              </a:p>
            </p:txBody>
          </p:sp>
        </mc:Choice>
        <mc:Fallback>
          <p:sp>
            <p:nvSpPr>
              <p:cNvPr id="22" name="TextBox 78">
                <a:extLst>
                  <a:ext uri="{FF2B5EF4-FFF2-40B4-BE49-F238E27FC236}">
                    <a16:creationId xmlns:a16="http://schemas.microsoft.com/office/drawing/2014/main" id="{62DD9D91-E809-9B33-C779-20BC5E009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338" y="15556455"/>
                <a:ext cx="1270361" cy="523220"/>
              </a:xfrm>
              <a:prstGeom prst="rect">
                <a:avLst/>
              </a:prstGeom>
              <a:blipFill>
                <a:blip r:embed="rId5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81">
            <a:extLst>
              <a:ext uri="{FF2B5EF4-FFF2-40B4-BE49-F238E27FC236}">
                <a16:creationId xmlns:a16="http://schemas.microsoft.com/office/drawing/2014/main" id="{86F2D211-D305-34C3-5149-3FCF3817F60E}"/>
              </a:ext>
            </a:extLst>
          </p:cNvPr>
          <p:cNvSpPr txBox="1"/>
          <p:nvPr/>
        </p:nvSpPr>
        <p:spPr>
          <a:xfrm>
            <a:off x="4824696" y="18307264"/>
            <a:ext cx="16933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noProof="0" dirty="0"/>
              <a:t>Database 1</a:t>
            </a:r>
          </a:p>
        </p:txBody>
      </p:sp>
      <p:sp>
        <p:nvSpPr>
          <p:cNvPr id="24" name="TextBox 82">
            <a:extLst>
              <a:ext uri="{FF2B5EF4-FFF2-40B4-BE49-F238E27FC236}">
                <a16:creationId xmlns:a16="http://schemas.microsoft.com/office/drawing/2014/main" id="{135EBAC4-2BAD-9067-7833-AFFB58B1D41A}"/>
              </a:ext>
            </a:extLst>
          </p:cNvPr>
          <p:cNvSpPr txBox="1"/>
          <p:nvPr/>
        </p:nvSpPr>
        <p:spPr>
          <a:xfrm>
            <a:off x="7975957" y="18307264"/>
            <a:ext cx="16933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noProof="0" dirty="0"/>
              <a:t>Database 2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E6558D49-7CC8-6B91-4286-00C0157081D2}"/>
              </a:ext>
            </a:extLst>
          </p:cNvPr>
          <p:cNvSpPr/>
          <p:nvPr/>
        </p:nvSpPr>
        <p:spPr>
          <a:xfrm rot="16200000">
            <a:off x="7110187" y="17246453"/>
            <a:ext cx="277564" cy="3155163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/>
          </a:p>
        </p:txBody>
      </p:sp>
      <p:sp>
        <p:nvSpPr>
          <p:cNvPr id="27" name="TextBox 89">
            <a:extLst>
              <a:ext uri="{FF2B5EF4-FFF2-40B4-BE49-F238E27FC236}">
                <a16:creationId xmlns:a16="http://schemas.microsoft.com/office/drawing/2014/main" id="{516FF7AC-B88D-4C55-68FF-DD872303F2D4}"/>
              </a:ext>
            </a:extLst>
          </p:cNvPr>
          <p:cNvSpPr txBox="1"/>
          <p:nvPr/>
        </p:nvSpPr>
        <p:spPr>
          <a:xfrm>
            <a:off x="5798893" y="19033028"/>
            <a:ext cx="28402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noProof="0" dirty="0"/>
              <a:t>Calculation of Norms, check for numerical convergence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AEFC1EA-7BC9-2CAF-F9AB-1F291A920DD8}"/>
              </a:ext>
            </a:extLst>
          </p:cNvPr>
          <p:cNvSpPr/>
          <p:nvPr/>
        </p:nvSpPr>
        <p:spPr>
          <a:xfrm>
            <a:off x="9780326" y="16352851"/>
            <a:ext cx="1156386" cy="641942"/>
          </a:xfrm>
          <a:prstGeom prst="rect">
            <a:avLst/>
          </a:prstGeom>
          <a:solidFill>
            <a:srgbClr val="1A1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600" dirty="0"/>
              <a:t>Energy </a:t>
            </a:r>
          </a:p>
          <a:p>
            <a:r>
              <a:rPr lang="it-IT" sz="1600" dirty="0"/>
              <a:t>model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B5BA5-5348-CD3B-ECEE-01FC28AB1E0D}"/>
              </a:ext>
            </a:extLst>
          </p:cNvPr>
          <p:cNvSpPr/>
          <p:nvPr/>
        </p:nvSpPr>
        <p:spPr>
          <a:xfrm>
            <a:off x="9780326" y="17529579"/>
            <a:ext cx="1156386" cy="641942"/>
          </a:xfrm>
          <a:prstGeom prst="rect">
            <a:avLst/>
          </a:prstGeom>
          <a:solidFill>
            <a:srgbClr val="839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600" dirty="0" err="1"/>
              <a:t>Economic</a:t>
            </a:r>
            <a:r>
              <a:rPr lang="it-IT" sz="1600" dirty="0"/>
              <a:t> </a:t>
            </a:r>
          </a:p>
          <a:p>
            <a:r>
              <a:rPr lang="it-IT" sz="1600" dirty="0"/>
              <a:t>model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F46DAEC-F66C-6267-CCF1-C6B1788B923B}"/>
              </a:ext>
            </a:extLst>
          </p:cNvPr>
          <p:cNvCxnSpPr>
            <a:cxnSpLocks/>
            <a:endCxn id="28" idx="1"/>
          </p:cNvCxnSpPr>
          <p:nvPr/>
        </p:nvCxnSpPr>
        <p:spPr>
          <a:xfrm flipV="1">
            <a:off x="9187356" y="16673822"/>
            <a:ext cx="592970" cy="385532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DC41627-6E38-FD7E-460A-F25A43792290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9187356" y="17354850"/>
            <a:ext cx="592970" cy="495700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database icon">
            <a:hlinkClick r:id="rId2" tooltip="database icon"/>
            <a:extLst>
              <a:ext uri="{FF2B5EF4-FFF2-40B4-BE49-F238E27FC236}">
                <a16:creationId xmlns:a16="http://schemas.microsoft.com/office/drawing/2014/main" id="{5D8C9A2D-79BC-7F09-951E-14EF09983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9682" y="16841412"/>
            <a:ext cx="808936" cy="8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56B41E5-4566-30A6-3799-6848267BE140}"/>
              </a:ext>
            </a:extLst>
          </p:cNvPr>
          <p:cNvCxnSpPr/>
          <p:nvPr/>
        </p:nvCxnSpPr>
        <p:spPr>
          <a:xfrm>
            <a:off x="10936712" y="16673822"/>
            <a:ext cx="592970" cy="320971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F3D02EA-9178-DCB7-3550-C46EA907AA31}"/>
              </a:ext>
            </a:extLst>
          </p:cNvPr>
          <p:cNvCxnSpPr>
            <a:cxnSpLocks/>
          </p:cNvCxnSpPr>
          <p:nvPr/>
        </p:nvCxnSpPr>
        <p:spPr>
          <a:xfrm flipV="1">
            <a:off x="10936712" y="17414106"/>
            <a:ext cx="552168" cy="436444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8">
                <a:extLst>
                  <a:ext uri="{FF2B5EF4-FFF2-40B4-BE49-F238E27FC236}">
                    <a16:creationId xmlns:a16="http://schemas.microsoft.com/office/drawing/2014/main" id="{EB0EEAD6-BAED-5174-E3F6-DB8F1020EC88}"/>
                  </a:ext>
                </a:extLst>
              </p:cNvPr>
              <p:cNvSpPr txBox="1"/>
              <p:nvPr/>
            </p:nvSpPr>
            <p:spPr>
              <a:xfrm>
                <a:off x="9808838" y="15556455"/>
                <a:ext cx="12703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1400" b="1" dirty="0">
                    <a:latin typeface="Trebuchet MS" panose="020B0603020202020204" pitchFamily="34" charset="0"/>
                  </a:rPr>
                  <a:t>Iteration</a:t>
                </a:r>
                <a:endParaRPr lang="it-IT" sz="1400" b="1" i="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4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1400" b="1" dirty="0"/>
              </a:p>
            </p:txBody>
          </p:sp>
        </mc:Choice>
        <mc:Fallback>
          <p:sp>
            <p:nvSpPr>
              <p:cNvPr id="35" name="TextBox 8">
                <a:extLst>
                  <a:ext uri="{FF2B5EF4-FFF2-40B4-BE49-F238E27FC236}">
                    <a16:creationId xmlns:a16="http://schemas.microsoft.com/office/drawing/2014/main" id="{EB0EEAD6-BAED-5174-E3F6-DB8F1020E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8838" y="15556455"/>
                <a:ext cx="1270361" cy="523220"/>
              </a:xfrm>
              <a:prstGeom prst="rect">
                <a:avLst/>
              </a:prstGeom>
              <a:blipFill>
                <a:blip r:embed="rId5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11">
            <a:extLst>
              <a:ext uri="{FF2B5EF4-FFF2-40B4-BE49-F238E27FC236}">
                <a16:creationId xmlns:a16="http://schemas.microsoft.com/office/drawing/2014/main" id="{E03722C0-BEF6-461D-BCC0-4E5EAD935030}"/>
              </a:ext>
            </a:extLst>
          </p:cNvPr>
          <p:cNvSpPr txBox="1"/>
          <p:nvPr/>
        </p:nvSpPr>
        <p:spPr>
          <a:xfrm>
            <a:off x="11079199" y="18307264"/>
            <a:ext cx="16933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noProof="0" dirty="0"/>
              <a:t>Database 3</a:t>
            </a:r>
          </a:p>
        </p:txBody>
      </p:sp>
    </p:spTree>
    <p:extLst>
      <p:ext uri="{BB962C8B-B14F-4D97-AF65-F5344CB8AC3E}">
        <p14:creationId xmlns:p14="http://schemas.microsoft.com/office/powerpoint/2010/main" val="3933203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ttangolo 19">
            <a:extLst>
              <a:ext uri="{FF2B5EF4-FFF2-40B4-BE49-F238E27FC236}">
                <a16:creationId xmlns:a16="http://schemas.microsoft.com/office/drawing/2014/main" id="{BD194A8E-31B0-4828-D8AE-3026F9BA30C3}"/>
              </a:ext>
            </a:extLst>
          </p:cNvPr>
          <p:cNvSpPr/>
          <p:nvPr/>
        </p:nvSpPr>
        <p:spPr>
          <a:xfrm>
            <a:off x="507019" y="2491740"/>
            <a:ext cx="6693087" cy="6350000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63" noProof="1">
              <a:solidFill>
                <a:schemeClr val="tx1"/>
              </a:solidFill>
              <a:latin typeface="+mj-lt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58" name="Rettangolo 19">
            <a:extLst>
              <a:ext uri="{FF2B5EF4-FFF2-40B4-BE49-F238E27FC236}">
                <a16:creationId xmlns:a16="http://schemas.microsoft.com/office/drawing/2014/main" id="{A54EDB88-1A72-E30F-591E-9BD888D750C7}"/>
              </a:ext>
            </a:extLst>
          </p:cNvPr>
          <p:cNvSpPr/>
          <p:nvPr/>
        </p:nvSpPr>
        <p:spPr>
          <a:xfrm>
            <a:off x="2137152" y="2732038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Conceptual model definition</a:t>
            </a:r>
          </a:p>
        </p:txBody>
      </p:sp>
      <p:cxnSp>
        <p:nvCxnSpPr>
          <p:cNvPr id="60" name="Connettore diritto 4">
            <a:extLst>
              <a:ext uri="{FF2B5EF4-FFF2-40B4-BE49-F238E27FC236}">
                <a16:creationId xmlns:a16="http://schemas.microsoft.com/office/drawing/2014/main" id="{987D235D-E327-9EA5-59A1-F7C38FAE8D6A}"/>
              </a:ext>
            </a:extLst>
          </p:cNvPr>
          <p:cNvCxnSpPr>
            <a:cxnSpLocks/>
            <a:stCxn id="58" idx="2"/>
            <a:endCxn id="62" idx="0"/>
          </p:cNvCxnSpPr>
          <p:nvPr/>
        </p:nvCxnSpPr>
        <p:spPr>
          <a:xfrm>
            <a:off x="2875537" y="3099265"/>
            <a:ext cx="0" cy="23247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ttangolo 19">
            <a:extLst>
              <a:ext uri="{FF2B5EF4-FFF2-40B4-BE49-F238E27FC236}">
                <a16:creationId xmlns:a16="http://schemas.microsoft.com/office/drawing/2014/main" id="{6115B734-48B7-4AF0-EBFD-3F5B89F1C7EE}"/>
              </a:ext>
            </a:extLst>
          </p:cNvPr>
          <p:cNvSpPr/>
          <p:nvPr/>
        </p:nvSpPr>
        <p:spPr>
          <a:xfrm>
            <a:off x="2137152" y="3331740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Generation of model directory</a:t>
            </a:r>
          </a:p>
        </p:txBody>
      </p:sp>
      <p:sp>
        <p:nvSpPr>
          <p:cNvPr id="63" name="Rettangolo 19">
            <a:extLst>
              <a:ext uri="{FF2B5EF4-FFF2-40B4-BE49-F238E27FC236}">
                <a16:creationId xmlns:a16="http://schemas.microsoft.com/office/drawing/2014/main" id="{B6935E0A-C8D1-973E-0BAF-E413881B0EE0}"/>
              </a:ext>
            </a:extLst>
          </p:cNvPr>
          <p:cNvSpPr/>
          <p:nvPr/>
        </p:nvSpPr>
        <p:spPr>
          <a:xfrm>
            <a:off x="2137149" y="3948843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Fill model setup file/s</a:t>
            </a:r>
          </a:p>
        </p:txBody>
      </p:sp>
      <p:sp>
        <p:nvSpPr>
          <p:cNvPr id="64" name="Rettangolo 19">
            <a:extLst>
              <a:ext uri="{FF2B5EF4-FFF2-40B4-BE49-F238E27FC236}">
                <a16:creationId xmlns:a16="http://schemas.microsoft.com/office/drawing/2014/main" id="{A6DA005C-7BC1-CF40-F0C9-32EBF80FC179}"/>
              </a:ext>
            </a:extLst>
          </p:cNvPr>
          <p:cNvSpPr/>
          <p:nvPr/>
        </p:nvSpPr>
        <p:spPr>
          <a:xfrm>
            <a:off x="2137151" y="4571367"/>
            <a:ext cx="147676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Model class instance generation</a:t>
            </a:r>
          </a:p>
        </p:txBody>
      </p:sp>
      <p:sp>
        <p:nvSpPr>
          <p:cNvPr id="65" name="Rettangolo 19">
            <a:extLst>
              <a:ext uri="{FF2B5EF4-FFF2-40B4-BE49-F238E27FC236}">
                <a16:creationId xmlns:a16="http://schemas.microsoft.com/office/drawing/2014/main" id="{E352CC46-7F7D-54F3-3798-C33F8359AE4E}"/>
              </a:ext>
            </a:extLst>
          </p:cNvPr>
          <p:cNvSpPr/>
          <p:nvPr/>
        </p:nvSpPr>
        <p:spPr>
          <a:xfrm>
            <a:off x="2137150" y="5201742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Fill sets data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(model coordinates)</a:t>
            </a:r>
          </a:p>
        </p:txBody>
      </p:sp>
      <p:sp>
        <p:nvSpPr>
          <p:cNvPr id="66" name="Rettangolo 19">
            <a:extLst>
              <a:ext uri="{FF2B5EF4-FFF2-40B4-BE49-F238E27FC236}">
                <a16:creationId xmlns:a16="http://schemas.microsoft.com/office/drawing/2014/main" id="{E9195897-49E8-7E67-4C5E-E452CB748271}"/>
              </a:ext>
            </a:extLst>
          </p:cNvPr>
          <p:cNvSpPr/>
          <p:nvPr/>
        </p:nvSpPr>
        <p:spPr>
          <a:xfrm>
            <a:off x="2137149" y="5811037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Initialization of data structures</a:t>
            </a:r>
          </a:p>
        </p:txBody>
      </p:sp>
      <p:sp>
        <p:nvSpPr>
          <p:cNvPr id="67" name="Rettangolo 19">
            <a:extLst>
              <a:ext uri="{FF2B5EF4-FFF2-40B4-BE49-F238E27FC236}">
                <a16:creationId xmlns:a16="http://schemas.microsoft.com/office/drawing/2014/main" id="{BB243347-CE32-B16A-F3E1-48D73EA21774}"/>
              </a:ext>
            </a:extLst>
          </p:cNvPr>
          <p:cNvSpPr/>
          <p:nvPr/>
        </p:nvSpPr>
        <p:spPr>
          <a:xfrm>
            <a:off x="2137146" y="7028343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Initialization of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numerical problem/s</a:t>
            </a:r>
          </a:p>
        </p:txBody>
      </p:sp>
      <p:sp>
        <p:nvSpPr>
          <p:cNvPr id="68" name="Rettangolo 19">
            <a:extLst>
              <a:ext uri="{FF2B5EF4-FFF2-40B4-BE49-F238E27FC236}">
                <a16:creationId xmlns:a16="http://schemas.microsoft.com/office/drawing/2014/main" id="{0779B5C7-C077-50E3-3305-6DAB5402A017}"/>
              </a:ext>
            </a:extLst>
          </p:cNvPr>
          <p:cNvSpPr/>
          <p:nvPr/>
        </p:nvSpPr>
        <p:spPr>
          <a:xfrm>
            <a:off x="2137148" y="6419690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Fill/update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exogenous model data</a:t>
            </a:r>
          </a:p>
        </p:txBody>
      </p:sp>
      <p:sp>
        <p:nvSpPr>
          <p:cNvPr id="69" name="Rettangolo 19">
            <a:extLst>
              <a:ext uri="{FF2B5EF4-FFF2-40B4-BE49-F238E27FC236}">
                <a16:creationId xmlns:a16="http://schemas.microsoft.com/office/drawing/2014/main" id="{6B7958C8-93DB-D00E-8E9E-F9B4010DFFB1}"/>
              </a:ext>
            </a:extLst>
          </p:cNvPr>
          <p:cNvSpPr/>
          <p:nvPr/>
        </p:nvSpPr>
        <p:spPr>
          <a:xfrm>
            <a:off x="2137145" y="7636338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Solution of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numerical problem/s</a:t>
            </a:r>
          </a:p>
        </p:txBody>
      </p:sp>
      <p:sp>
        <p:nvSpPr>
          <p:cNvPr id="70" name="Rettangolo 19">
            <a:extLst>
              <a:ext uri="{FF2B5EF4-FFF2-40B4-BE49-F238E27FC236}">
                <a16:creationId xmlns:a16="http://schemas.microsoft.com/office/drawing/2014/main" id="{E4C603EE-96DE-7802-4AFF-26E7AFA47D69}"/>
              </a:ext>
            </a:extLst>
          </p:cNvPr>
          <p:cNvSpPr/>
          <p:nvPr/>
        </p:nvSpPr>
        <p:spPr>
          <a:xfrm>
            <a:off x="2137146" y="8245633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Export endogenous model data</a:t>
            </a:r>
          </a:p>
        </p:txBody>
      </p:sp>
      <p:sp>
        <p:nvSpPr>
          <p:cNvPr id="75" name="Rettangolo 19">
            <a:extLst>
              <a:ext uri="{FF2B5EF4-FFF2-40B4-BE49-F238E27FC236}">
                <a16:creationId xmlns:a16="http://schemas.microsoft.com/office/drawing/2014/main" id="{8328F9D0-C7E9-FE1F-7193-00CE96DBF08C}"/>
              </a:ext>
            </a:extLst>
          </p:cNvPr>
          <p:cNvSpPr/>
          <p:nvPr/>
        </p:nvSpPr>
        <p:spPr>
          <a:xfrm>
            <a:off x="3717468" y="3331736"/>
            <a:ext cx="2122440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cvxlab.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create_model_dir()</a:t>
            </a:r>
          </a:p>
        </p:txBody>
      </p:sp>
      <p:cxnSp>
        <p:nvCxnSpPr>
          <p:cNvPr id="76" name="Connettore diritto 4">
            <a:extLst>
              <a:ext uri="{FF2B5EF4-FFF2-40B4-BE49-F238E27FC236}">
                <a16:creationId xmlns:a16="http://schemas.microsoft.com/office/drawing/2014/main" id="{2378A6E9-BABC-7FE0-3575-C7BD6D7F452D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2875537" y="3698969"/>
            <a:ext cx="3" cy="24987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ttore diritto 4">
            <a:extLst>
              <a:ext uri="{FF2B5EF4-FFF2-40B4-BE49-F238E27FC236}">
                <a16:creationId xmlns:a16="http://schemas.microsoft.com/office/drawing/2014/main" id="{D3EB00D3-772F-166C-2603-CF7EE1CB6110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 flipH="1">
            <a:off x="2875535" y="6178266"/>
            <a:ext cx="1" cy="24142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ttore diritto 4">
            <a:extLst>
              <a:ext uri="{FF2B5EF4-FFF2-40B4-BE49-F238E27FC236}">
                <a16:creationId xmlns:a16="http://schemas.microsoft.com/office/drawing/2014/main" id="{4BB92513-90F5-7D9B-F3B7-3114C8B8563C}"/>
              </a:ext>
            </a:extLst>
          </p:cNvPr>
          <p:cNvCxnSpPr>
            <a:cxnSpLocks/>
            <a:stCxn id="68" idx="2"/>
            <a:endCxn id="67" idx="0"/>
          </p:cNvCxnSpPr>
          <p:nvPr/>
        </p:nvCxnSpPr>
        <p:spPr>
          <a:xfrm flipH="1">
            <a:off x="2875533" y="6786919"/>
            <a:ext cx="2" cy="24142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ttore diritto 4">
            <a:extLst>
              <a:ext uri="{FF2B5EF4-FFF2-40B4-BE49-F238E27FC236}">
                <a16:creationId xmlns:a16="http://schemas.microsoft.com/office/drawing/2014/main" id="{F004C06D-C574-4771-BF3C-D424CCB28D0E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>
            <a:off x="2875533" y="7395572"/>
            <a:ext cx="0" cy="2407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ttangolo 19">
            <a:extLst>
              <a:ext uri="{FF2B5EF4-FFF2-40B4-BE49-F238E27FC236}">
                <a16:creationId xmlns:a16="http://schemas.microsoft.com/office/drawing/2014/main" id="{89C5F5CE-846E-6AB9-6C48-8A30E71D7684}"/>
              </a:ext>
            </a:extLst>
          </p:cNvPr>
          <p:cNvSpPr/>
          <p:nvPr/>
        </p:nvSpPr>
        <p:spPr>
          <a:xfrm>
            <a:off x="3717467" y="5850266"/>
            <a:ext cx="3059583" cy="28265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initialize_model_environment()</a:t>
            </a:r>
          </a:p>
        </p:txBody>
      </p:sp>
      <p:sp>
        <p:nvSpPr>
          <p:cNvPr id="93" name="Rettangolo 19">
            <a:extLst>
              <a:ext uri="{FF2B5EF4-FFF2-40B4-BE49-F238E27FC236}">
                <a16:creationId xmlns:a16="http://schemas.microsoft.com/office/drawing/2014/main" id="{A84934A9-0E51-5C2E-1287-8A85654265C2}"/>
              </a:ext>
            </a:extLst>
          </p:cNvPr>
          <p:cNvSpPr/>
          <p:nvPr/>
        </p:nvSpPr>
        <p:spPr>
          <a:xfrm>
            <a:off x="3717468" y="4567412"/>
            <a:ext cx="2434406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 = cvxlab.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Model()</a:t>
            </a:r>
          </a:p>
        </p:txBody>
      </p:sp>
      <p:sp>
        <p:nvSpPr>
          <p:cNvPr id="94" name="Rettangolo 19">
            <a:extLst>
              <a:ext uri="{FF2B5EF4-FFF2-40B4-BE49-F238E27FC236}">
                <a16:creationId xmlns:a16="http://schemas.microsoft.com/office/drawing/2014/main" id="{D6015398-F6A3-E410-E9B3-A208ECCD4767}"/>
              </a:ext>
            </a:extLst>
          </p:cNvPr>
          <p:cNvSpPr/>
          <p:nvPr/>
        </p:nvSpPr>
        <p:spPr>
          <a:xfrm>
            <a:off x="3717468" y="7636337"/>
            <a:ext cx="2122440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run_model()</a:t>
            </a:r>
          </a:p>
        </p:txBody>
      </p:sp>
      <p:sp>
        <p:nvSpPr>
          <p:cNvPr id="95" name="Rettangolo 19">
            <a:extLst>
              <a:ext uri="{FF2B5EF4-FFF2-40B4-BE49-F238E27FC236}">
                <a16:creationId xmlns:a16="http://schemas.microsoft.com/office/drawing/2014/main" id="{2CB4907E-872D-23E6-2867-9059587A3DE5}"/>
              </a:ext>
            </a:extLst>
          </p:cNvPr>
          <p:cNvSpPr/>
          <p:nvPr/>
        </p:nvSpPr>
        <p:spPr>
          <a:xfrm>
            <a:off x="3717467" y="8245633"/>
            <a:ext cx="2481613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load_results_to_database()</a:t>
            </a:r>
          </a:p>
        </p:txBody>
      </p:sp>
      <p:cxnSp>
        <p:nvCxnSpPr>
          <p:cNvPr id="96" name="Connettore diritto 4">
            <a:extLst>
              <a:ext uri="{FF2B5EF4-FFF2-40B4-BE49-F238E27FC236}">
                <a16:creationId xmlns:a16="http://schemas.microsoft.com/office/drawing/2014/main" id="{B053F864-A331-49EF-19BC-0D3ECD8F3B54}"/>
              </a:ext>
            </a:extLst>
          </p:cNvPr>
          <p:cNvCxnSpPr>
            <a:cxnSpLocks/>
            <a:stCxn id="63" idx="2"/>
            <a:endCxn id="64" idx="0"/>
          </p:cNvCxnSpPr>
          <p:nvPr/>
        </p:nvCxnSpPr>
        <p:spPr>
          <a:xfrm flipH="1">
            <a:off x="2875536" y="4316072"/>
            <a:ext cx="1" cy="25529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ttore diritto 4">
            <a:extLst>
              <a:ext uri="{FF2B5EF4-FFF2-40B4-BE49-F238E27FC236}">
                <a16:creationId xmlns:a16="http://schemas.microsoft.com/office/drawing/2014/main" id="{935421F4-93E3-3229-C210-00CBA4087A24}"/>
              </a:ext>
            </a:extLst>
          </p:cNvPr>
          <p:cNvCxnSpPr>
            <a:cxnSpLocks/>
            <a:stCxn id="64" idx="2"/>
            <a:endCxn id="65" idx="0"/>
          </p:cNvCxnSpPr>
          <p:nvPr/>
        </p:nvCxnSpPr>
        <p:spPr>
          <a:xfrm>
            <a:off x="2875536" y="4938596"/>
            <a:ext cx="1" cy="26314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ttore diritto 4">
            <a:extLst>
              <a:ext uri="{FF2B5EF4-FFF2-40B4-BE49-F238E27FC236}">
                <a16:creationId xmlns:a16="http://schemas.microsoft.com/office/drawing/2014/main" id="{74D54621-9031-F6A9-1A72-D220E6A529DB}"/>
              </a:ext>
            </a:extLst>
          </p:cNvPr>
          <p:cNvCxnSpPr>
            <a:cxnSpLocks/>
            <a:stCxn id="65" idx="2"/>
            <a:endCxn id="66" idx="0"/>
          </p:cNvCxnSpPr>
          <p:nvPr/>
        </p:nvCxnSpPr>
        <p:spPr>
          <a:xfrm flipH="1">
            <a:off x="2875536" y="5568971"/>
            <a:ext cx="1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ttore diritto 4">
            <a:extLst>
              <a:ext uri="{FF2B5EF4-FFF2-40B4-BE49-F238E27FC236}">
                <a16:creationId xmlns:a16="http://schemas.microsoft.com/office/drawing/2014/main" id="{ED33CF2E-57D4-8EBA-0E24-58A048C57833}"/>
              </a:ext>
            </a:extLst>
          </p:cNvPr>
          <p:cNvCxnSpPr>
            <a:cxnSpLocks/>
            <a:stCxn id="69" idx="2"/>
            <a:endCxn id="70" idx="0"/>
          </p:cNvCxnSpPr>
          <p:nvPr/>
        </p:nvCxnSpPr>
        <p:spPr>
          <a:xfrm>
            <a:off x="2875533" y="8003567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ttore diritto 4">
            <a:extLst>
              <a:ext uri="{FF2B5EF4-FFF2-40B4-BE49-F238E27FC236}">
                <a16:creationId xmlns:a16="http://schemas.microsoft.com/office/drawing/2014/main" id="{FB564ABE-FD97-DB6B-7FD3-8E3009DF7504}"/>
              </a:ext>
            </a:extLst>
          </p:cNvPr>
          <p:cNvCxnSpPr>
            <a:cxnSpLocks/>
          </p:cNvCxnSpPr>
          <p:nvPr/>
        </p:nvCxnSpPr>
        <p:spPr>
          <a:xfrm>
            <a:off x="1761009" y="4146874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23318EE-814C-58A9-C486-0A0C4D5B8F6A}"/>
              </a:ext>
            </a:extLst>
          </p:cNvPr>
          <p:cNvSpPr txBox="1"/>
          <p:nvPr/>
        </p:nvSpPr>
        <p:spPr>
          <a:xfrm>
            <a:off x="577850" y="4008374"/>
            <a:ext cx="11717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</a:p>
        </p:txBody>
      </p:sp>
      <p:cxnSp>
        <p:nvCxnSpPr>
          <p:cNvPr id="103" name="Connettore diritto 4">
            <a:extLst>
              <a:ext uri="{FF2B5EF4-FFF2-40B4-BE49-F238E27FC236}">
                <a16:creationId xmlns:a16="http://schemas.microsoft.com/office/drawing/2014/main" id="{9C798015-8741-D3D9-387C-85E11B763F1F}"/>
              </a:ext>
            </a:extLst>
          </p:cNvPr>
          <p:cNvCxnSpPr>
            <a:cxnSpLocks/>
          </p:cNvCxnSpPr>
          <p:nvPr/>
        </p:nvCxnSpPr>
        <p:spPr>
          <a:xfrm>
            <a:off x="1761009" y="5384853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FCE58FAA-1A64-0147-7293-6564EE895E37}"/>
              </a:ext>
            </a:extLst>
          </p:cNvPr>
          <p:cNvSpPr txBox="1"/>
          <p:nvPr/>
        </p:nvSpPr>
        <p:spPr>
          <a:xfrm>
            <a:off x="577850" y="5246353"/>
            <a:ext cx="11717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107" name="Connettore diritto 4">
            <a:extLst>
              <a:ext uri="{FF2B5EF4-FFF2-40B4-BE49-F238E27FC236}">
                <a16:creationId xmlns:a16="http://schemas.microsoft.com/office/drawing/2014/main" id="{7C8DFC16-5519-8494-6275-394879C3135A}"/>
              </a:ext>
            </a:extLst>
          </p:cNvPr>
          <p:cNvCxnSpPr>
            <a:cxnSpLocks/>
          </p:cNvCxnSpPr>
          <p:nvPr/>
        </p:nvCxnSpPr>
        <p:spPr>
          <a:xfrm>
            <a:off x="1761009" y="6598330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AA9C861-069A-929D-07AB-48E0651DC5D8}"/>
              </a:ext>
            </a:extLst>
          </p:cNvPr>
          <p:cNvSpPr txBox="1"/>
          <p:nvPr/>
        </p:nvSpPr>
        <p:spPr>
          <a:xfrm>
            <a:off x="577850" y="6459830"/>
            <a:ext cx="11717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sp>
        <p:nvSpPr>
          <p:cNvPr id="154" name="Rettangolo 19">
            <a:extLst>
              <a:ext uri="{FF2B5EF4-FFF2-40B4-BE49-F238E27FC236}">
                <a16:creationId xmlns:a16="http://schemas.microsoft.com/office/drawing/2014/main" id="{2EF92509-6427-B73C-6E5D-1BF695771B7B}"/>
              </a:ext>
            </a:extLst>
          </p:cNvPr>
          <p:cNvSpPr/>
          <p:nvPr/>
        </p:nvSpPr>
        <p:spPr>
          <a:xfrm>
            <a:off x="3717468" y="7072869"/>
            <a:ext cx="3482638" cy="290805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refresh_database_and_initialize_problem()</a:t>
            </a:r>
          </a:p>
        </p:txBody>
      </p:sp>
      <p:sp>
        <p:nvSpPr>
          <p:cNvPr id="78" name="Rettangolo 19">
            <a:extLst>
              <a:ext uri="{FF2B5EF4-FFF2-40B4-BE49-F238E27FC236}">
                <a16:creationId xmlns:a16="http://schemas.microsoft.com/office/drawing/2014/main" id="{6BB39E0A-A136-E62C-1CF7-2373DE205B88}"/>
              </a:ext>
            </a:extLst>
          </p:cNvPr>
          <p:cNvSpPr/>
          <p:nvPr/>
        </p:nvSpPr>
        <p:spPr>
          <a:xfrm>
            <a:off x="507019" y="10103744"/>
            <a:ext cx="7436831" cy="32157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63" noProof="1">
              <a:solidFill>
                <a:schemeClr val="tx1"/>
              </a:solidFill>
              <a:latin typeface="+mj-lt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79" name="Rettangolo 19">
            <a:extLst>
              <a:ext uri="{FF2B5EF4-FFF2-40B4-BE49-F238E27FC236}">
                <a16:creationId xmlns:a16="http://schemas.microsoft.com/office/drawing/2014/main" id="{9BF11AAC-EFEF-F723-2991-9A85AFC1C9B3}"/>
              </a:ext>
            </a:extLst>
          </p:cNvPr>
          <p:cNvSpPr/>
          <p:nvPr/>
        </p:nvSpPr>
        <p:spPr>
          <a:xfrm>
            <a:off x="2586673" y="10290352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Model class instance generation</a:t>
            </a:r>
          </a:p>
        </p:txBody>
      </p:sp>
      <p:sp>
        <p:nvSpPr>
          <p:cNvPr id="80" name="Rettangolo 19">
            <a:extLst>
              <a:ext uri="{FF2B5EF4-FFF2-40B4-BE49-F238E27FC236}">
                <a16:creationId xmlns:a16="http://schemas.microsoft.com/office/drawing/2014/main" id="{38E8199E-109F-8565-D18D-8B90037131F4}"/>
              </a:ext>
            </a:extLst>
          </p:cNvPr>
          <p:cNvSpPr/>
          <p:nvPr/>
        </p:nvSpPr>
        <p:spPr>
          <a:xfrm>
            <a:off x="2586673" y="11523523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Initialization of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numerical problem/s</a:t>
            </a:r>
          </a:p>
        </p:txBody>
      </p:sp>
      <p:sp>
        <p:nvSpPr>
          <p:cNvPr id="81" name="Rettangolo 19">
            <a:extLst>
              <a:ext uri="{FF2B5EF4-FFF2-40B4-BE49-F238E27FC236}">
                <a16:creationId xmlns:a16="http://schemas.microsoft.com/office/drawing/2014/main" id="{F9494711-7565-ED2E-A885-D3C0CE1A56E9}"/>
              </a:ext>
            </a:extLst>
          </p:cNvPr>
          <p:cNvSpPr/>
          <p:nvPr/>
        </p:nvSpPr>
        <p:spPr>
          <a:xfrm>
            <a:off x="2586673" y="10913726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Fill/update exogenous model data</a:t>
            </a:r>
          </a:p>
        </p:txBody>
      </p:sp>
      <p:sp>
        <p:nvSpPr>
          <p:cNvPr id="83" name="Rettangolo 19">
            <a:extLst>
              <a:ext uri="{FF2B5EF4-FFF2-40B4-BE49-F238E27FC236}">
                <a16:creationId xmlns:a16="http://schemas.microsoft.com/office/drawing/2014/main" id="{B14DCB49-3065-B211-9815-CCDCFFFFD393}"/>
              </a:ext>
            </a:extLst>
          </p:cNvPr>
          <p:cNvSpPr/>
          <p:nvPr/>
        </p:nvSpPr>
        <p:spPr>
          <a:xfrm>
            <a:off x="2586673" y="12133320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Solution of numerical problem/s</a:t>
            </a:r>
          </a:p>
        </p:txBody>
      </p:sp>
      <p:sp>
        <p:nvSpPr>
          <p:cNvPr id="84" name="Rettangolo 19">
            <a:extLst>
              <a:ext uri="{FF2B5EF4-FFF2-40B4-BE49-F238E27FC236}">
                <a16:creationId xmlns:a16="http://schemas.microsoft.com/office/drawing/2014/main" id="{D3CBAAB7-8C75-8CD6-62BD-1EBE24762972}"/>
              </a:ext>
            </a:extLst>
          </p:cNvPr>
          <p:cNvSpPr/>
          <p:nvPr/>
        </p:nvSpPr>
        <p:spPr>
          <a:xfrm>
            <a:off x="2586673" y="12742615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Export endogenous model data</a:t>
            </a:r>
          </a:p>
        </p:txBody>
      </p:sp>
      <p:cxnSp>
        <p:nvCxnSpPr>
          <p:cNvPr id="89" name="Connettore diritto 4">
            <a:extLst>
              <a:ext uri="{FF2B5EF4-FFF2-40B4-BE49-F238E27FC236}">
                <a16:creationId xmlns:a16="http://schemas.microsoft.com/office/drawing/2014/main" id="{320A796F-0147-7439-040C-1E810FCB1FC2}"/>
              </a:ext>
            </a:extLst>
          </p:cNvPr>
          <p:cNvCxnSpPr>
            <a:cxnSpLocks/>
            <a:stCxn id="80" idx="2"/>
            <a:endCxn id="83" idx="0"/>
          </p:cNvCxnSpPr>
          <p:nvPr/>
        </p:nvCxnSpPr>
        <p:spPr>
          <a:xfrm>
            <a:off x="3324673" y="11890752"/>
            <a:ext cx="0" cy="24256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ttangolo 19">
            <a:extLst>
              <a:ext uri="{FF2B5EF4-FFF2-40B4-BE49-F238E27FC236}">
                <a16:creationId xmlns:a16="http://schemas.microsoft.com/office/drawing/2014/main" id="{9E28A231-C334-7B60-6A9F-C1FDE3C1A0C5}"/>
              </a:ext>
            </a:extLst>
          </p:cNvPr>
          <p:cNvSpPr/>
          <p:nvPr/>
        </p:nvSpPr>
        <p:spPr>
          <a:xfrm>
            <a:off x="4410085" y="10292198"/>
            <a:ext cx="3453539" cy="36538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 = cvxlab.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Model(</a:t>
            </a:r>
            <a:r>
              <a:rPr lang="en-US" sz="900" i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use_existing_data=True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)</a:t>
            </a:r>
          </a:p>
        </p:txBody>
      </p:sp>
      <p:sp>
        <p:nvSpPr>
          <p:cNvPr id="92" name="Rettangolo 19">
            <a:extLst>
              <a:ext uri="{FF2B5EF4-FFF2-40B4-BE49-F238E27FC236}">
                <a16:creationId xmlns:a16="http://schemas.microsoft.com/office/drawing/2014/main" id="{6BFF40C6-765B-E308-2597-E5002B21C213}"/>
              </a:ext>
            </a:extLst>
          </p:cNvPr>
          <p:cNvSpPr/>
          <p:nvPr/>
        </p:nvSpPr>
        <p:spPr>
          <a:xfrm>
            <a:off x="4410086" y="12210277"/>
            <a:ext cx="2140574" cy="22969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run_model()</a:t>
            </a:r>
          </a:p>
        </p:txBody>
      </p:sp>
      <p:sp>
        <p:nvSpPr>
          <p:cNvPr id="99" name="Rettangolo 19">
            <a:extLst>
              <a:ext uri="{FF2B5EF4-FFF2-40B4-BE49-F238E27FC236}">
                <a16:creationId xmlns:a16="http://schemas.microsoft.com/office/drawing/2014/main" id="{FD9B156A-C348-49EE-BBFC-9557CF0FCA7A}"/>
              </a:ext>
            </a:extLst>
          </p:cNvPr>
          <p:cNvSpPr/>
          <p:nvPr/>
        </p:nvSpPr>
        <p:spPr>
          <a:xfrm>
            <a:off x="4410086" y="12791337"/>
            <a:ext cx="2502816" cy="28616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load_results_to_database()</a:t>
            </a:r>
          </a:p>
        </p:txBody>
      </p:sp>
      <p:cxnSp>
        <p:nvCxnSpPr>
          <p:cNvPr id="104" name="Connettore diritto 4">
            <a:extLst>
              <a:ext uri="{FF2B5EF4-FFF2-40B4-BE49-F238E27FC236}">
                <a16:creationId xmlns:a16="http://schemas.microsoft.com/office/drawing/2014/main" id="{4DC1D1A2-D72D-3E5E-5046-FDEE64E2CD2A}"/>
              </a:ext>
            </a:extLst>
          </p:cNvPr>
          <p:cNvCxnSpPr>
            <a:cxnSpLocks/>
            <a:stCxn id="83" idx="2"/>
            <a:endCxn id="84" idx="0"/>
          </p:cNvCxnSpPr>
          <p:nvPr/>
        </p:nvCxnSpPr>
        <p:spPr>
          <a:xfrm>
            <a:off x="3324673" y="12500549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ttore diritto 4">
            <a:extLst>
              <a:ext uri="{FF2B5EF4-FFF2-40B4-BE49-F238E27FC236}">
                <a16:creationId xmlns:a16="http://schemas.microsoft.com/office/drawing/2014/main" id="{19A9A148-CE46-9077-BE6D-C746C0272250}"/>
              </a:ext>
            </a:extLst>
          </p:cNvPr>
          <p:cNvCxnSpPr>
            <a:cxnSpLocks/>
          </p:cNvCxnSpPr>
          <p:nvPr/>
        </p:nvCxnSpPr>
        <p:spPr>
          <a:xfrm>
            <a:off x="2204943" y="11079810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005AE9B3-CC19-94E7-52A1-8CDB536B57BD}"/>
              </a:ext>
            </a:extLst>
          </p:cNvPr>
          <p:cNvSpPr txBox="1"/>
          <p:nvPr/>
        </p:nvSpPr>
        <p:spPr>
          <a:xfrm>
            <a:off x="591416" y="10848977"/>
            <a:ext cx="1602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</a:p>
          <a:p>
            <a:pPr algn="r"/>
            <a:r>
              <a:rPr lang="en-US" sz="1200" i="1" noProof="1">
                <a:latin typeface="+mj-lt"/>
                <a:ea typeface="Fira Code" pitchFamily="1" charset="0"/>
                <a:cs typeface="Fira Code" pitchFamily="1" charset="0"/>
              </a:rPr>
              <a:t>(updating existing data)</a:t>
            </a:r>
            <a:endParaRPr lang="en-US" sz="1200" i="1" dirty="0"/>
          </a:p>
        </p:txBody>
      </p:sp>
      <p:sp>
        <p:nvSpPr>
          <p:cNvPr id="111" name="Rettangolo 19">
            <a:extLst>
              <a:ext uri="{FF2B5EF4-FFF2-40B4-BE49-F238E27FC236}">
                <a16:creationId xmlns:a16="http://schemas.microsoft.com/office/drawing/2014/main" id="{B40C8D22-3384-F593-4979-8F8011F2CFD2}"/>
              </a:ext>
            </a:extLst>
          </p:cNvPr>
          <p:cNvSpPr/>
          <p:nvPr/>
        </p:nvSpPr>
        <p:spPr>
          <a:xfrm>
            <a:off x="4416435" y="11533948"/>
            <a:ext cx="3527415" cy="35680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refresh_database_and_initialize_problem()</a:t>
            </a: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E8FF7700-8A94-06A6-E60C-28F682485EB1}"/>
              </a:ext>
            </a:extLst>
          </p:cNvPr>
          <p:cNvCxnSpPr>
            <a:cxnSpLocks/>
            <a:stCxn id="79" idx="3"/>
            <a:endCxn id="83" idx="3"/>
          </p:cNvCxnSpPr>
          <p:nvPr/>
        </p:nvCxnSpPr>
        <p:spPr>
          <a:xfrm>
            <a:off x="4062673" y="10473967"/>
            <a:ext cx="12700" cy="184296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ttore diritto 4">
            <a:extLst>
              <a:ext uri="{FF2B5EF4-FFF2-40B4-BE49-F238E27FC236}">
                <a16:creationId xmlns:a16="http://schemas.microsoft.com/office/drawing/2014/main" id="{4A2003E5-7D1F-4BEE-493B-18865BF87924}"/>
              </a:ext>
            </a:extLst>
          </p:cNvPr>
          <p:cNvCxnSpPr>
            <a:cxnSpLocks/>
            <a:stCxn id="79" idx="2"/>
            <a:endCxn id="81" idx="0"/>
          </p:cNvCxnSpPr>
          <p:nvPr/>
        </p:nvCxnSpPr>
        <p:spPr>
          <a:xfrm>
            <a:off x="3324673" y="10657581"/>
            <a:ext cx="0" cy="25614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ttore diritto 4">
            <a:extLst>
              <a:ext uri="{FF2B5EF4-FFF2-40B4-BE49-F238E27FC236}">
                <a16:creationId xmlns:a16="http://schemas.microsoft.com/office/drawing/2014/main" id="{84615B64-3E23-74E8-D9FC-D7E9CDDA647B}"/>
              </a:ext>
            </a:extLst>
          </p:cNvPr>
          <p:cNvCxnSpPr>
            <a:cxnSpLocks/>
            <a:stCxn id="81" idx="2"/>
            <a:endCxn id="80" idx="0"/>
          </p:cNvCxnSpPr>
          <p:nvPr/>
        </p:nvCxnSpPr>
        <p:spPr>
          <a:xfrm>
            <a:off x="3324673" y="11280955"/>
            <a:ext cx="0" cy="24256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19">
            <a:extLst>
              <a:ext uri="{FF2B5EF4-FFF2-40B4-BE49-F238E27FC236}">
                <a16:creationId xmlns:a16="http://schemas.microsoft.com/office/drawing/2014/main" id="{2B7267A3-029F-8630-570A-62DB4419710D}"/>
              </a:ext>
            </a:extLst>
          </p:cNvPr>
          <p:cNvSpPr/>
          <p:nvPr/>
        </p:nvSpPr>
        <p:spPr>
          <a:xfrm>
            <a:off x="4410085" y="10866417"/>
            <a:ext cx="3301355" cy="42678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9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generate_input_data_files(</a:t>
            </a:r>
            <a:r>
              <a:rPr lang="en-US" sz="900" i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...</a:t>
            </a:r>
            <a:r>
              <a:rPr lang="en-US" sz="9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D1FC85-C025-F263-D11D-A7E19D908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12" y="3246447"/>
            <a:ext cx="6693988" cy="63464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1CC652-94AE-9F04-A635-CAF2E459D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958" y="10335319"/>
            <a:ext cx="7437765" cy="3218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9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EAC00-52F2-1CAC-98A2-6723B1C2E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ttangolo 19">
            <a:extLst>
              <a:ext uri="{FF2B5EF4-FFF2-40B4-BE49-F238E27FC236}">
                <a16:creationId xmlns:a16="http://schemas.microsoft.com/office/drawing/2014/main" id="{171A7456-C984-AB17-8AF1-007916D507C2}"/>
              </a:ext>
            </a:extLst>
          </p:cNvPr>
          <p:cNvSpPr/>
          <p:nvPr/>
        </p:nvSpPr>
        <p:spPr>
          <a:xfrm>
            <a:off x="2049247" y="4222466"/>
            <a:ext cx="10025913" cy="40071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56" noProof="1">
              <a:solidFill>
                <a:schemeClr val="tx1"/>
              </a:solidFill>
              <a:latin typeface="+mj-lt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253348-BAF1-207A-6C49-A92BEAFEC1DC}"/>
              </a:ext>
            </a:extLst>
          </p:cNvPr>
          <p:cNvSpPr txBox="1"/>
          <p:nvPr/>
        </p:nvSpPr>
        <p:spPr>
          <a:xfrm>
            <a:off x="2185973" y="7023857"/>
            <a:ext cx="1631498" cy="85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54" i="1" noProof="1"/>
              <a:t>Define model settings and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14D916-996B-4E5A-21AE-978504C6B82E}"/>
              </a:ext>
            </a:extLst>
          </p:cNvPr>
          <p:cNvSpPr txBox="1"/>
          <p:nvPr/>
        </p:nvSpPr>
        <p:spPr>
          <a:xfrm>
            <a:off x="9235922" y="4520894"/>
            <a:ext cx="2157624" cy="85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54" i="1" noProof="1"/>
              <a:t>Generate model database, feed / update input data</a:t>
            </a:r>
          </a:p>
        </p:txBody>
      </p:sp>
      <p:pic>
        <p:nvPicPr>
          <p:cNvPr id="13" name="Picture 18" descr="SQLite logo vector (.EPS) - Anthon Code">
            <a:extLst>
              <a:ext uri="{FF2B5EF4-FFF2-40B4-BE49-F238E27FC236}">
                <a16:creationId xmlns:a16="http://schemas.microsoft.com/office/drawing/2014/main" id="{0435C665-5EBA-265E-008C-EE9AD3939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1933" y="4374296"/>
            <a:ext cx="2204752" cy="1041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 descr="Math icon">
            <a:hlinkClick r:id="rId3" tooltip="Math icon"/>
            <a:extLst>
              <a:ext uri="{FF2B5EF4-FFF2-40B4-BE49-F238E27FC236}">
                <a16:creationId xmlns:a16="http://schemas.microsoft.com/office/drawing/2014/main" id="{27DAAD24-622F-BF79-4DB0-207F02166E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8880" y="5695111"/>
            <a:ext cx="979015" cy="979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F833666-9AD5-E841-A21E-F5C1E015E722}"/>
              </a:ext>
            </a:extLst>
          </p:cNvPr>
          <p:cNvCxnSpPr>
            <a:cxnSpLocks/>
          </p:cNvCxnSpPr>
          <p:nvPr/>
        </p:nvCxnSpPr>
        <p:spPr>
          <a:xfrm flipH="1">
            <a:off x="3684772" y="6184618"/>
            <a:ext cx="779578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CF3044C6-79CE-EAD2-C432-CD393B0BBDFE}"/>
              </a:ext>
            </a:extLst>
          </p:cNvPr>
          <p:cNvSpPr/>
          <p:nvPr/>
        </p:nvSpPr>
        <p:spPr>
          <a:xfrm>
            <a:off x="6207010" y="4722301"/>
            <a:ext cx="394035" cy="2924634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2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6862556-E2A3-E5C7-B27A-8C2AB1925930}"/>
              </a:ext>
            </a:extLst>
          </p:cNvPr>
          <p:cNvSpPr txBox="1"/>
          <p:nvPr/>
        </p:nvSpPr>
        <p:spPr>
          <a:xfrm>
            <a:off x="9277275" y="7209551"/>
            <a:ext cx="2116271" cy="601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54" i="1" noProof="1"/>
              <a:t>Export, explore and visualize results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021FEB-EDBF-CDE6-45EF-4069FCF7CA82}"/>
              </a:ext>
            </a:extLst>
          </p:cNvPr>
          <p:cNvSpPr txBox="1"/>
          <p:nvPr/>
        </p:nvSpPr>
        <p:spPr>
          <a:xfrm>
            <a:off x="9235922" y="5957789"/>
            <a:ext cx="2043533" cy="601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54" i="1" noProof="1"/>
              <a:t>Generate and solve numerical problem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9C9E6F2-EAEF-E177-2654-0A0FE4525C37}"/>
              </a:ext>
            </a:extLst>
          </p:cNvPr>
          <p:cNvCxnSpPr>
            <a:cxnSpLocks/>
            <a:stCxn id="11" idx="3"/>
            <a:endCxn id="40" idx="3"/>
          </p:cNvCxnSpPr>
          <p:nvPr/>
        </p:nvCxnSpPr>
        <p:spPr>
          <a:xfrm>
            <a:off x="11393546" y="4948896"/>
            <a:ext cx="12700" cy="2561379"/>
          </a:xfrm>
          <a:prstGeom prst="bentConnector3">
            <a:avLst>
              <a:gd name="adj1" fmla="val 1800000"/>
            </a:avLst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9" name="Picture 5" descr="Install">
            <a:extLst>
              <a:ext uri="{FF2B5EF4-FFF2-40B4-BE49-F238E27FC236}">
                <a16:creationId xmlns:a16="http://schemas.microsoft.com/office/drawing/2014/main" id="{5FEE0BB3-60B6-7093-B786-AA60612333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0067" y="6034978"/>
            <a:ext cx="2038882" cy="437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446FB40-BD26-FDAF-F3A8-326C0D149C37}"/>
              </a:ext>
            </a:extLst>
          </p:cNvPr>
          <p:cNvCxnSpPr>
            <a:cxnSpLocks/>
          </p:cNvCxnSpPr>
          <p:nvPr/>
        </p:nvCxnSpPr>
        <p:spPr>
          <a:xfrm flipV="1">
            <a:off x="10097827" y="5458609"/>
            <a:ext cx="0" cy="470182"/>
          </a:xfrm>
          <a:prstGeom prst="straightConnector1">
            <a:avLst/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739584-C4FE-B63B-E087-910EBFAA4F9A}"/>
              </a:ext>
            </a:extLst>
          </p:cNvPr>
          <p:cNvCxnSpPr>
            <a:cxnSpLocks/>
          </p:cNvCxnSpPr>
          <p:nvPr/>
        </p:nvCxnSpPr>
        <p:spPr>
          <a:xfrm flipV="1">
            <a:off x="10097827" y="6628406"/>
            <a:ext cx="0" cy="470182"/>
          </a:xfrm>
          <a:prstGeom prst="straightConnector1">
            <a:avLst/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Power Bi Logo, Visualization, Icon, Emblem, Branding PNG">
            <a:extLst>
              <a:ext uri="{FF2B5EF4-FFF2-40B4-BE49-F238E27FC236}">
                <a16:creationId xmlns:a16="http://schemas.microsoft.com/office/drawing/2014/main" id="{02FFFB6F-64D7-75B3-2185-B44D538AD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1427" y="11176098"/>
            <a:ext cx="172368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6" name="Picture 32" descr="Power BI Logo, symbol, meaning, history, PNG, brand">
            <a:extLst>
              <a:ext uri="{FF2B5EF4-FFF2-40B4-BE49-F238E27FC236}">
                <a16:creationId xmlns:a16="http://schemas.microsoft.com/office/drawing/2014/main" id="{14E78DC0-45AD-710E-BAB3-7687995CFB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26" r="22990"/>
          <a:stretch>
            <a:fillRect/>
          </a:stretch>
        </p:blipFill>
        <p:spPr bwMode="auto">
          <a:xfrm>
            <a:off x="7403636" y="6859564"/>
            <a:ext cx="1054943" cy="1091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logo with blue red white and grey squares&#10;&#10;AI-generated content may be incorrect.">
            <a:extLst>
              <a:ext uri="{FF2B5EF4-FFF2-40B4-BE49-F238E27FC236}">
                <a16:creationId xmlns:a16="http://schemas.microsoft.com/office/drawing/2014/main" id="{DC047D81-024E-CCC3-CC48-E46185029D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4807" y="5656102"/>
            <a:ext cx="913830" cy="12464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DF55ABC-B385-E6D5-C76A-356ACBFD3363}"/>
              </a:ext>
            </a:extLst>
          </p:cNvPr>
          <p:cNvSpPr txBox="1"/>
          <p:nvPr/>
        </p:nvSpPr>
        <p:spPr>
          <a:xfrm>
            <a:off x="4377079" y="7023857"/>
            <a:ext cx="1631498" cy="85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54" i="1" noProof="1"/>
              <a:t>Generate CVXlab Model object instance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C149C7-7E1B-523D-7887-B1E7480520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5711" y="8797052"/>
            <a:ext cx="10028789" cy="400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312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1072</TotalTime>
  <Words>533</Words>
  <Application>Microsoft Office PowerPoint</Application>
  <PresentationFormat>Custom</PresentationFormat>
  <Paragraphs>122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Fira Code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Rocco</dc:creator>
  <cp:lastModifiedBy>Matteo Vincenzo Rocco</cp:lastModifiedBy>
  <cp:revision>27</cp:revision>
  <dcterms:created xsi:type="dcterms:W3CDTF">2025-10-01T14:23:47Z</dcterms:created>
  <dcterms:modified xsi:type="dcterms:W3CDTF">2026-03-24T17:04:47Z</dcterms:modified>
</cp:coreProperties>
</file>